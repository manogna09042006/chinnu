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57" r:id="rId2"/>
    <p:sldId id="482" r:id="rId3"/>
    <p:sldId id="483" r:id="rId4"/>
    <p:sldId id="487" r:id="rId5"/>
    <p:sldId id="484" r:id="rId6"/>
    <p:sldId id="485" r:id="rId7"/>
    <p:sldId id="486" r:id="rId8"/>
    <p:sldId id="476" r:id="rId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9220"/>
    <a:srgbClr val="EEA7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autoAdjust="0"/>
  </p:normalViewPr>
  <p:slideViewPr>
    <p:cSldViewPr snapToGrid="0">
      <p:cViewPr varScale="1">
        <p:scale>
          <a:sx n="82" d="100"/>
          <a:sy n="82" d="100"/>
        </p:scale>
        <p:origin x="720"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8B886D-951B-4F94-97A0-09C84E2DFFE6}" type="datetimeFigureOut">
              <a:rPr lang="en-IN" smtClean="0"/>
              <a:pPr/>
              <a:t>09-01-2026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0BA215-9FBE-4541-A51D-158D3DDA0C6D}" type="slidenum">
              <a:rPr lang="en-IN" smtClean="0"/>
              <a:pPr/>
              <a:t>‹#›</a:t>
            </a:fld>
            <a:endParaRPr lang="en-IN"/>
          </a:p>
        </p:txBody>
      </p:sp>
    </p:spTree>
    <p:extLst>
      <p:ext uri="{BB962C8B-B14F-4D97-AF65-F5344CB8AC3E}">
        <p14:creationId xmlns:p14="http://schemas.microsoft.com/office/powerpoint/2010/main" val="1766236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a:defRPr/>
            </a:pPr>
            <a:fld id="{BB9D0A89-B979-40D8-86BE-9F8E8CB24FA2}" type="datetime1">
              <a:rPr lang="en-IN" smtClean="0"/>
              <a:pPr>
                <a:defRPr/>
              </a:pPr>
              <a:t>09-01-2026</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6" name="Slide Number Placeholder 5"/>
          <p:cNvSpPr>
            <a:spLocks noGrp="1"/>
          </p:cNvSpPr>
          <p:nvPr>
            <p:ph type="sldNum" sz="quarter" idx="12"/>
          </p:nvPr>
        </p:nvSpPr>
        <p:spPr/>
        <p:txBody>
          <a:bodyPr/>
          <a:lstStyle>
            <a:lvl1pPr>
              <a:defRPr/>
            </a:lvl1pPr>
          </a:lstStyle>
          <a:p>
            <a:pPr>
              <a:defRPr/>
            </a:pPr>
            <a:fld id="{685EC803-3526-40AE-B35E-3DC48BFA00FB}" type="slidenum">
              <a:rPr lang="en-IN"/>
              <a:pPr>
                <a:defRPr/>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CE1260BE-0532-498F-B324-5A751A9CDF7F}" type="datetime1">
              <a:rPr lang="en-IN" smtClean="0"/>
              <a:pPr>
                <a:defRPr/>
              </a:pPr>
              <a:t>09-01-2026</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6" name="Slide Number Placeholder 5"/>
          <p:cNvSpPr>
            <a:spLocks noGrp="1"/>
          </p:cNvSpPr>
          <p:nvPr>
            <p:ph type="sldNum" sz="quarter" idx="12"/>
          </p:nvPr>
        </p:nvSpPr>
        <p:spPr/>
        <p:txBody>
          <a:bodyPr/>
          <a:lstStyle>
            <a:lvl1pPr>
              <a:defRPr/>
            </a:lvl1pPr>
          </a:lstStyle>
          <a:p>
            <a:pPr>
              <a:defRPr/>
            </a:pPr>
            <a:fld id="{6F19ED06-7346-4EB5-9FCF-9D0A8A928F23}" type="slidenum">
              <a:rPr lang="en-IN"/>
              <a:pPr>
                <a:defRPr/>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5B81A47-E164-4A62-9CEF-C083A6DA37FF}" type="datetime1">
              <a:rPr lang="en-IN" smtClean="0"/>
              <a:pPr>
                <a:defRPr/>
              </a:pPr>
              <a:t>09-01-2026</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6" name="Slide Number Placeholder 5"/>
          <p:cNvSpPr>
            <a:spLocks noGrp="1"/>
          </p:cNvSpPr>
          <p:nvPr>
            <p:ph type="sldNum" sz="quarter" idx="12"/>
          </p:nvPr>
        </p:nvSpPr>
        <p:spPr/>
        <p:txBody>
          <a:bodyPr/>
          <a:lstStyle>
            <a:lvl1pPr>
              <a:defRPr/>
            </a:lvl1pPr>
          </a:lstStyle>
          <a:p>
            <a:pPr>
              <a:defRPr/>
            </a:pPr>
            <a:fld id="{125B81E4-F078-4D60-8DBE-4460A56B3ACC}" type="slidenum">
              <a:rPr lang="en-IN"/>
              <a:pPr>
                <a:defRPr/>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D0202D98-3468-4A57-B76E-C78D1C8D8419}" type="datetime1">
              <a:rPr lang="en-IN" smtClean="0"/>
              <a:pPr>
                <a:defRPr/>
              </a:pPr>
              <a:t>09-01-2026</a:t>
            </a:fld>
            <a:endParaRPr lang="en-IN"/>
          </a:p>
        </p:txBody>
      </p:sp>
      <p:sp>
        <p:nvSpPr>
          <p:cNvPr id="6"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7" name="Slide Number Placeholder 5"/>
          <p:cNvSpPr>
            <a:spLocks noGrp="1"/>
          </p:cNvSpPr>
          <p:nvPr>
            <p:ph type="sldNum" sz="quarter" idx="12"/>
          </p:nvPr>
        </p:nvSpPr>
        <p:spPr/>
        <p:txBody>
          <a:bodyPr/>
          <a:lstStyle>
            <a:lvl1pPr>
              <a:defRPr/>
            </a:lvl1pPr>
          </a:lstStyle>
          <a:p>
            <a:pPr>
              <a:defRPr/>
            </a:pPr>
            <a:fld id="{57D911CB-1277-4871-AA3A-1E154EF6D61B}" type="slidenum">
              <a:rPr lang="en-IN"/>
              <a:pPr>
                <a:defRPr/>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20CB90FC-C6D8-4054-BC26-D3CABC337FB7}" type="datetime1">
              <a:rPr lang="en-IN" smtClean="0"/>
              <a:pPr>
                <a:defRPr/>
              </a:pPr>
              <a:t>09-01-2026</a:t>
            </a:fld>
            <a:endParaRPr lang="en-IN"/>
          </a:p>
        </p:txBody>
      </p:sp>
      <p:sp>
        <p:nvSpPr>
          <p:cNvPr id="8"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9" name="Slide Number Placeholder 5"/>
          <p:cNvSpPr>
            <a:spLocks noGrp="1"/>
          </p:cNvSpPr>
          <p:nvPr>
            <p:ph type="sldNum" sz="quarter" idx="12"/>
          </p:nvPr>
        </p:nvSpPr>
        <p:spPr/>
        <p:txBody>
          <a:bodyPr/>
          <a:lstStyle>
            <a:lvl1pPr>
              <a:defRPr/>
            </a:lvl1pPr>
          </a:lstStyle>
          <a:p>
            <a:pPr>
              <a:defRPr/>
            </a:pPr>
            <a:fld id="{83293F79-6FBE-4FDC-A12C-59660E3F06E4}" type="slidenum">
              <a:rPr lang="en-IN"/>
              <a:pPr>
                <a:defRPr/>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721A9FB3-B203-4023-BA23-9369B33C4918}" type="datetime1">
              <a:rPr lang="en-IN" smtClean="0"/>
              <a:pPr>
                <a:defRPr/>
              </a:pPr>
              <a:t>09-01-2026</a:t>
            </a:fld>
            <a:endParaRPr lang="en-IN"/>
          </a:p>
        </p:txBody>
      </p:sp>
      <p:sp>
        <p:nvSpPr>
          <p:cNvPr id="4"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5" name="Slide Number Placeholder 5"/>
          <p:cNvSpPr>
            <a:spLocks noGrp="1"/>
          </p:cNvSpPr>
          <p:nvPr>
            <p:ph type="sldNum" sz="quarter" idx="12"/>
          </p:nvPr>
        </p:nvSpPr>
        <p:spPr/>
        <p:txBody>
          <a:bodyPr/>
          <a:lstStyle>
            <a:lvl1pPr>
              <a:defRPr/>
            </a:lvl1pPr>
          </a:lstStyle>
          <a:p>
            <a:pPr>
              <a:defRPr/>
            </a:pPr>
            <a:fld id="{08B1F10E-B779-43ED-9018-3E59F03ED843}" type="slidenum">
              <a:rPr lang="en-IN"/>
              <a:pPr>
                <a:defRPr/>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E60ABF7-FE2D-4934-B183-D977428E22D4}" type="datetime1">
              <a:rPr lang="en-IN" smtClean="0"/>
              <a:pPr>
                <a:defRPr/>
              </a:pPr>
              <a:t>09-01-2026</a:t>
            </a:fld>
            <a:endParaRPr lang="en-IN"/>
          </a:p>
        </p:txBody>
      </p:sp>
      <p:sp>
        <p:nvSpPr>
          <p:cNvPr id="3"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4" name="Slide Number Placeholder 5"/>
          <p:cNvSpPr>
            <a:spLocks noGrp="1"/>
          </p:cNvSpPr>
          <p:nvPr>
            <p:ph type="sldNum" sz="quarter" idx="12"/>
          </p:nvPr>
        </p:nvSpPr>
        <p:spPr/>
        <p:txBody>
          <a:bodyPr/>
          <a:lstStyle>
            <a:lvl1pPr>
              <a:defRPr/>
            </a:lvl1pPr>
          </a:lstStyle>
          <a:p>
            <a:pPr>
              <a:defRPr/>
            </a:pPr>
            <a:fld id="{CE35CDBA-6BFF-4679-AE0A-12F627F93D36}" type="slidenum">
              <a:rPr lang="en-IN"/>
              <a:pPr>
                <a:defRPr/>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CDE5618-DB36-4D9B-BE8B-531D591F90FE}" type="datetime1">
              <a:rPr lang="en-IN" smtClean="0"/>
              <a:pPr>
                <a:defRPr/>
              </a:pPr>
              <a:t>09-01-2026</a:t>
            </a:fld>
            <a:endParaRPr lang="en-IN"/>
          </a:p>
        </p:txBody>
      </p:sp>
      <p:sp>
        <p:nvSpPr>
          <p:cNvPr id="6"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7" name="Slide Number Placeholder 5"/>
          <p:cNvSpPr>
            <a:spLocks noGrp="1"/>
          </p:cNvSpPr>
          <p:nvPr>
            <p:ph type="sldNum" sz="quarter" idx="12"/>
          </p:nvPr>
        </p:nvSpPr>
        <p:spPr/>
        <p:txBody>
          <a:bodyPr/>
          <a:lstStyle>
            <a:lvl1pPr>
              <a:defRPr/>
            </a:lvl1pPr>
          </a:lstStyle>
          <a:p>
            <a:pPr>
              <a:defRPr/>
            </a:pPr>
            <a:fld id="{7D1FFF2D-7013-4E1A-9B8C-24295D389B24}" type="slidenum">
              <a:rPr lang="en-IN"/>
              <a:pPr>
                <a:defRPr/>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0C8C669-72E3-43A8-9C39-EDF86C48811A}" type="datetime1">
              <a:rPr lang="en-IN" smtClean="0"/>
              <a:pPr>
                <a:defRPr/>
              </a:pPr>
              <a:t>09-01-2026</a:t>
            </a:fld>
            <a:endParaRPr lang="en-IN"/>
          </a:p>
        </p:txBody>
      </p:sp>
      <p:sp>
        <p:nvSpPr>
          <p:cNvPr id="6"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7" name="Slide Number Placeholder 5"/>
          <p:cNvSpPr>
            <a:spLocks noGrp="1"/>
          </p:cNvSpPr>
          <p:nvPr>
            <p:ph type="sldNum" sz="quarter" idx="12"/>
          </p:nvPr>
        </p:nvSpPr>
        <p:spPr/>
        <p:txBody>
          <a:bodyPr/>
          <a:lstStyle>
            <a:lvl1pPr>
              <a:defRPr/>
            </a:lvl1pPr>
          </a:lstStyle>
          <a:p>
            <a:pPr>
              <a:defRPr/>
            </a:pPr>
            <a:fld id="{80B8786A-C005-4284-A0AA-F828BE028D14}" type="slidenum">
              <a:rPr lang="en-IN"/>
              <a:pPr>
                <a:defRPr/>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A24E4CDF-105F-48C9-9365-447DF7BEE51E}" type="datetime1">
              <a:rPr lang="en-IN" smtClean="0"/>
              <a:pPr>
                <a:defRPr/>
              </a:pPr>
              <a:t>09-01-2026</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6" name="Slide Number Placeholder 5"/>
          <p:cNvSpPr>
            <a:spLocks noGrp="1"/>
          </p:cNvSpPr>
          <p:nvPr>
            <p:ph type="sldNum" sz="quarter" idx="12"/>
          </p:nvPr>
        </p:nvSpPr>
        <p:spPr/>
        <p:txBody>
          <a:bodyPr/>
          <a:lstStyle>
            <a:lvl1pPr>
              <a:defRPr/>
            </a:lvl1pPr>
          </a:lstStyle>
          <a:p>
            <a:pPr>
              <a:defRPr/>
            </a:pPr>
            <a:fld id="{6A5FBC2A-90DF-421F-A0E1-E6357F320766}" type="slidenum">
              <a:rPr lang="en-IN"/>
              <a:pPr>
                <a:defRPr/>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3B48ADE9-0C52-4D98-B347-C5AF8E39C811}" type="datetime1">
              <a:rPr lang="en-IN" smtClean="0"/>
              <a:pPr>
                <a:defRPr/>
              </a:pPr>
              <a:t>09-01-2026</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a:t>Dr HNNCE Jayanagar Bengaluru-56070</a:t>
            </a:r>
            <a:endParaRPr lang="en-IN" dirty="0"/>
          </a:p>
        </p:txBody>
      </p:sp>
      <p:sp>
        <p:nvSpPr>
          <p:cNvPr id="6" name="Slide Number Placeholder 5"/>
          <p:cNvSpPr>
            <a:spLocks noGrp="1"/>
          </p:cNvSpPr>
          <p:nvPr>
            <p:ph type="sldNum" sz="quarter" idx="12"/>
          </p:nvPr>
        </p:nvSpPr>
        <p:spPr/>
        <p:txBody>
          <a:bodyPr/>
          <a:lstStyle>
            <a:lvl1pPr>
              <a:defRPr/>
            </a:lvl1pPr>
          </a:lstStyle>
          <a:p>
            <a:pPr>
              <a:defRPr/>
            </a:pPr>
            <a:fld id="{0CE87202-18A4-443D-85D9-68D8F17A29CB}" type="slidenum">
              <a:rPr lang="en-IN"/>
              <a:pPr>
                <a:defRPr/>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N"/>
          </a:p>
        </p:txBody>
      </p:sp>
      <p:sp>
        <p:nvSpPr>
          <p:cNvPr id="4099" name="Text Placeholder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600C44C3-F8DE-4754-8EBF-C02F6EAC5B37}" type="datetime1">
              <a:rPr lang="en-IN" smtClean="0"/>
              <a:pPr>
                <a:defRPr/>
              </a:pPr>
              <a:t>09-01-2026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IN"/>
              <a:t>Dr HNNCE Jayanagar Bengaluru-56070</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CF11C164-2851-41DE-9A55-2A29CF35C344}"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5.jpeg" /></Relationships>
</file>

<file path=ppt/slides/_rels/slide5.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7.jpeg" /></Relationships>
</file>

<file path=ppt/slides/_rels/slide6.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694238" y="1320801"/>
            <a:ext cx="5299768" cy="1200329"/>
          </a:xfrm>
          <a:prstGeom prst="rect">
            <a:avLst/>
          </a:prstGeom>
        </p:spPr>
        <p:txBody>
          <a:bodyPr wrap="square">
            <a:spAutoFit/>
          </a:bodyPr>
          <a:lstStyle/>
          <a:p>
            <a:pPr fontAlgn="auto">
              <a:spcBef>
                <a:spcPts val="0"/>
              </a:spcBef>
              <a:spcAft>
                <a:spcPts val="0"/>
              </a:spcAft>
              <a:defRPr/>
            </a:pPr>
            <a:r>
              <a:rPr lang="en-US" sz="3600" dirty="0"/>
              <a:t>BSCK307 – Social Connect &amp; Responsibility </a:t>
            </a:r>
            <a:endParaRPr lang="en-US" sz="3600" b="1" dirty="0">
              <a:solidFill>
                <a:schemeClr val="accent2">
                  <a:lumMod val="75000"/>
                </a:schemeClr>
              </a:solidFill>
              <a:latin typeface="+mn-lt"/>
              <a:cs typeface="+mn-cs"/>
            </a:endParaRPr>
          </a:p>
        </p:txBody>
      </p:sp>
      <p:sp>
        <p:nvSpPr>
          <p:cNvPr id="5124" name="Rectangle 14"/>
          <p:cNvSpPr>
            <a:spLocks noChangeArrowheads="1"/>
          </p:cNvSpPr>
          <p:nvPr/>
        </p:nvSpPr>
        <p:spPr bwMode="auto">
          <a:xfrm>
            <a:off x="2933798" y="5799689"/>
            <a:ext cx="7497762" cy="461962"/>
          </a:xfrm>
          <a:prstGeom prst="rect">
            <a:avLst/>
          </a:prstGeom>
          <a:noFill/>
          <a:ln w="9525">
            <a:noFill/>
            <a:miter lim="800000"/>
            <a:headEnd/>
            <a:tailEnd/>
          </a:ln>
        </p:spPr>
        <p:txBody>
          <a:bodyPr>
            <a:spAutoFit/>
          </a:bodyPr>
          <a:lstStyle/>
          <a:p>
            <a:r>
              <a:rPr lang="en-US" sz="2400" dirty="0">
                <a:latin typeface="Calibri" pitchFamily="34" charset="0"/>
              </a:rPr>
              <a:t>Department of Information Science and Engineering</a:t>
            </a:r>
            <a:endParaRPr lang="en-IN" sz="2400" dirty="0">
              <a:latin typeface="Calibri" pitchFamily="34" charset="0"/>
            </a:endParaRPr>
          </a:p>
        </p:txBody>
      </p:sp>
      <p:grpSp>
        <p:nvGrpSpPr>
          <p:cNvPr id="2" name="Group 19"/>
          <p:cNvGrpSpPr/>
          <p:nvPr/>
        </p:nvGrpSpPr>
        <p:grpSpPr>
          <a:xfrm>
            <a:off x="313844" y="5489699"/>
            <a:ext cx="1066895" cy="1078155"/>
            <a:chOff x="313844" y="5489699"/>
            <a:chExt cx="1066895" cy="1078155"/>
          </a:xfrm>
          <a:solidFill>
            <a:schemeClr val="accent2">
              <a:lumMod val="75000"/>
            </a:schemeClr>
          </a:solidFill>
        </p:grpSpPr>
        <p:sp>
          <p:nvSpPr>
            <p:cNvPr id="24" name="Rectangle 23"/>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25" name="Rectangle 24"/>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cxnSp>
        <p:nvCxnSpPr>
          <p:cNvPr id="11" name="Straight Connector 10"/>
          <p:cNvCxnSpPr>
            <a:cxnSpLocks/>
          </p:cNvCxnSpPr>
          <p:nvPr/>
        </p:nvCxnSpPr>
        <p:spPr>
          <a:xfrm flipV="1">
            <a:off x="4694238" y="2480812"/>
            <a:ext cx="4959350" cy="1056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3" name="Group 15"/>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8" name="Rectangle 17"/>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pic>
        <p:nvPicPr>
          <p:cNvPr id="13" name="Picture 12" descr="https://drhnnce.org.in/wp-content/uploads/2024/06/HN-NCE-logo-Sanskrit-e1720195930994.png"/>
          <p:cNvPicPr/>
          <p:nvPr/>
        </p:nvPicPr>
        <p:blipFill>
          <a:blip r:embed="rId2" cstate="print"/>
          <a:srcRect/>
          <a:stretch>
            <a:fillRect/>
          </a:stretch>
        </p:blipFill>
        <p:spPr bwMode="auto">
          <a:xfrm>
            <a:off x="1280817" y="1428282"/>
            <a:ext cx="2933374" cy="2679892"/>
          </a:xfrm>
          <a:prstGeom prst="rect">
            <a:avLst/>
          </a:prstGeom>
          <a:noFill/>
          <a:ln w="9525">
            <a:noFill/>
            <a:miter lim="800000"/>
            <a:headEnd/>
            <a:tailEnd/>
          </a:ln>
        </p:spPr>
      </p:pic>
      <p:sp>
        <p:nvSpPr>
          <p:cNvPr id="15" name="Footer Placeholder 14"/>
          <p:cNvSpPr>
            <a:spLocks noGrp="1"/>
          </p:cNvSpPr>
          <p:nvPr>
            <p:ph type="ftr" sz="quarter" idx="11"/>
          </p:nvPr>
        </p:nvSpPr>
        <p:spPr/>
        <p:txBody>
          <a:bodyPr/>
          <a:lstStyle/>
          <a:p>
            <a:pPr>
              <a:defRPr/>
            </a:pPr>
            <a:r>
              <a:rPr lang="en-IN" dirty="0"/>
              <a:t>Dr HNNCE Jayanagar Bengaluru-56070</a:t>
            </a:r>
          </a:p>
        </p:txBody>
      </p:sp>
      <p:sp>
        <p:nvSpPr>
          <p:cNvPr id="16" name="Right Triangle 15"/>
          <p:cNvSpPr/>
          <p:nvPr/>
        </p:nvSpPr>
        <p:spPr>
          <a:xfrm rot="16200000">
            <a:off x="10863470" y="5529469"/>
            <a:ext cx="1192696" cy="146436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ight Triangle 18"/>
          <p:cNvSpPr/>
          <p:nvPr/>
        </p:nvSpPr>
        <p:spPr>
          <a:xfrm rot="5400000">
            <a:off x="384314" y="-384314"/>
            <a:ext cx="1961324" cy="2729952"/>
          </a:xfrm>
          <a:prstGeom prst="rtTriangle">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Slide Number Placeholder 19"/>
          <p:cNvSpPr>
            <a:spLocks noGrp="1"/>
          </p:cNvSpPr>
          <p:nvPr>
            <p:ph type="sldNum" sz="quarter" idx="12"/>
          </p:nvPr>
        </p:nvSpPr>
        <p:spPr>
          <a:xfrm>
            <a:off x="9246704" y="6333849"/>
            <a:ext cx="2743200" cy="365125"/>
          </a:xfrm>
        </p:spPr>
        <p:txBody>
          <a:bodyPr/>
          <a:lstStyle/>
          <a:p>
            <a:pPr>
              <a:defRPr/>
            </a:pPr>
            <a:fld id="{6F19ED06-7346-4EB5-9FCF-9D0A8A928F23}" type="slidenum">
              <a:rPr lang="en-IN" sz="2400" smtClean="0">
                <a:solidFill>
                  <a:srgbClr val="FF0000"/>
                </a:solidFill>
              </a:rPr>
              <a:pPr>
                <a:defRPr/>
              </a:pPr>
              <a:t>1</a:t>
            </a:fld>
            <a:endParaRPr lang="en-IN" sz="2400" dirty="0">
              <a:solidFill>
                <a:srgbClr val="FF0000"/>
              </a:solidFill>
            </a:endParaRPr>
          </a:p>
        </p:txBody>
      </p:sp>
      <p:sp>
        <p:nvSpPr>
          <p:cNvPr id="4" name="TextBox 3"/>
          <p:cNvSpPr txBox="1"/>
          <p:nvPr/>
        </p:nvSpPr>
        <p:spPr>
          <a:xfrm>
            <a:off x="4938936" y="2948164"/>
            <a:ext cx="5299767" cy="646331"/>
          </a:xfrm>
          <a:prstGeom prst="rect">
            <a:avLst/>
          </a:prstGeom>
          <a:noFill/>
        </p:spPr>
        <p:txBody>
          <a:bodyPr wrap="square" rtlCol="0">
            <a:spAutoFit/>
          </a:bodyPr>
          <a:lstStyle/>
          <a:p>
            <a:r>
              <a:rPr lang="en-US" b="1" dirty="0"/>
              <a:t>Name                                USN</a:t>
            </a:r>
          </a:p>
          <a:p>
            <a:r>
              <a:rPr lang="en-US" dirty="0"/>
              <a:t>Manogna Shree K </a:t>
            </a:r>
            <a:r>
              <a:rPr lang="en-US"/>
              <a:t>J          1HC24IS022</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a:cxnSpLocks/>
          </p:cNvCxnSpPr>
          <p:nvPr/>
        </p:nvCxnSpPr>
        <p:spPr>
          <a:xfrm flipH="1">
            <a:off x="2677189" y="1043837"/>
            <a:ext cx="7487158" cy="1594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5"/>
          <p:cNvGrpSpPr/>
          <p:nvPr/>
        </p:nvGrpSpPr>
        <p:grpSpPr>
          <a:xfrm rot="10800000">
            <a:off x="10908710" y="173303"/>
            <a:ext cx="951985" cy="847114"/>
            <a:chOff x="313844" y="5489699"/>
            <a:chExt cx="1066895" cy="1078155"/>
          </a:xfrm>
          <a:solidFill>
            <a:schemeClr val="accent2">
              <a:lumMod val="75000"/>
            </a:schemeClr>
          </a:solidFill>
        </p:grpSpPr>
        <p:sp>
          <p:nvSpPr>
            <p:cNvPr id="9" name="Rectangle 8"/>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0" name="Rectangle 9"/>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12" name="TextBox 11"/>
          <p:cNvSpPr txBox="1"/>
          <p:nvPr/>
        </p:nvSpPr>
        <p:spPr>
          <a:xfrm>
            <a:off x="2573594" y="410100"/>
            <a:ext cx="8040354" cy="584775"/>
          </a:xfrm>
          <a:prstGeom prst="rect">
            <a:avLst/>
          </a:prstGeom>
          <a:noFill/>
        </p:spPr>
        <p:txBody>
          <a:bodyPr wrap="square" rtlCol="0">
            <a:spAutoFit/>
          </a:bodyPr>
          <a:lstStyle/>
          <a:p>
            <a:pPr algn="ctr"/>
            <a:r>
              <a:rPr lang="en-US" sz="3200" dirty="0">
                <a:solidFill>
                  <a:srgbClr val="FF0000"/>
                </a:solidFill>
              </a:rPr>
              <a:t>Activity-1:Plantation and adoption of a tree</a:t>
            </a:r>
            <a:endParaRPr lang="en-US" sz="3200" b="1" dirty="0">
              <a:solidFill>
                <a:srgbClr val="A02061"/>
              </a:solidFill>
              <a:latin typeface="Times New Roman" panose="02020603050405020304" pitchFamily="18" charset="0"/>
              <a:cs typeface="Times New Roman" panose="02020603050405020304" pitchFamily="18" charset="0"/>
            </a:endParaRPr>
          </a:p>
        </p:txBody>
      </p:sp>
      <p:sp>
        <p:nvSpPr>
          <p:cNvPr id="14" name="Footer Placeholder 13"/>
          <p:cNvSpPr>
            <a:spLocks noGrp="1"/>
          </p:cNvSpPr>
          <p:nvPr>
            <p:ph type="ftr" sz="quarter" idx="11"/>
          </p:nvPr>
        </p:nvSpPr>
        <p:spPr/>
        <p:txBody>
          <a:bodyPr/>
          <a:lstStyle/>
          <a:p>
            <a:pPr>
              <a:defRPr/>
            </a:pPr>
            <a:r>
              <a:rPr lang="en-IN" dirty="0"/>
              <a:t>Dr HNNCE Jayanagar Bengaluru-56070</a:t>
            </a:r>
          </a:p>
        </p:txBody>
      </p:sp>
      <p:grpSp>
        <p:nvGrpSpPr>
          <p:cNvPr id="3" name="Group 15"/>
          <p:cNvGrpSpPr/>
          <p:nvPr/>
        </p:nvGrpSpPr>
        <p:grpSpPr>
          <a:xfrm>
            <a:off x="379857" y="5719338"/>
            <a:ext cx="951985" cy="847114"/>
            <a:chOff x="313844" y="5489699"/>
            <a:chExt cx="1066895" cy="1078155"/>
          </a:xfrm>
          <a:solidFill>
            <a:schemeClr val="accent2">
              <a:lumMod val="75000"/>
            </a:schemeClr>
          </a:solidFill>
        </p:grpSpPr>
        <p:sp>
          <p:nvSpPr>
            <p:cNvPr id="18" name="Rectangle 17"/>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9" name="Rectangle 18"/>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22" name="Right Triangle 21"/>
          <p:cNvSpPr/>
          <p:nvPr/>
        </p:nvSpPr>
        <p:spPr>
          <a:xfrm rot="5400000">
            <a:off x="384314" y="-384314"/>
            <a:ext cx="1961324" cy="272995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descr="https://drhnnce.org.in/wp-content/uploads/2024/06/HN-NCE-logo-Sanskrit-e1720195930994.png"/>
          <p:cNvPicPr/>
          <p:nvPr/>
        </p:nvPicPr>
        <p:blipFill>
          <a:blip r:embed="rId2" cstate="print"/>
          <a:srcRect/>
          <a:stretch>
            <a:fillRect/>
          </a:stretch>
        </p:blipFill>
        <p:spPr bwMode="auto">
          <a:xfrm>
            <a:off x="0" y="0"/>
            <a:ext cx="1524000" cy="1205948"/>
          </a:xfrm>
          <a:prstGeom prst="rect">
            <a:avLst/>
          </a:prstGeom>
          <a:noFill/>
          <a:ln w="9525">
            <a:noFill/>
            <a:miter lim="800000"/>
            <a:headEnd/>
            <a:tailEnd/>
          </a:ln>
        </p:spPr>
      </p:pic>
      <p:sp>
        <p:nvSpPr>
          <p:cNvPr id="15" name="Right Triangle 14"/>
          <p:cNvSpPr/>
          <p:nvPr/>
        </p:nvSpPr>
        <p:spPr>
          <a:xfrm rot="16200000">
            <a:off x="10863470" y="5529469"/>
            <a:ext cx="1192696" cy="146436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lide Number Placeholder 16"/>
          <p:cNvSpPr>
            <a:spLocks noGrp="1"/>
          </p:cNvSpPr>
          <p:nvPr>
            <p:ph type="sldNum" sz="quarter" idx="12"/>
          </p:nvPr>
        </p:nvSpPr>
        <p:spPr>
          <a:xfrm>
            <a:off x="9276522" y="6303342"/>
            <a:ext cx="2743200" cy="365125"/>
          </a:xfrm>
        </p:spPr>
        <p:txBody>
          <a:bodyPr/>
          <a:lstStyle/>
          <a:p>
            <a:pPr>
              <a:defRPr/>
            </a:pPr>
            <a:fld id="{6F19ED06-7346-4EB5-9FCF-9D0A8A928F23}" type="slidenum">
              <a:rPr lang="en-IN" sz="2400" smtClean="0">
                <a:solidFill>
                  <a:srgbClr val="FF0000"/>
                </a:solidFill>
              </a:rPr>
              <a:pPr>
                <a:defRPr/>
              </a:pPr>
              <a:t>2</a:t>
            </a:fld>
            <a:endParaRPr lang="en-IN" sz="2400" dirty="0">
              <a:solidFill>
                <a:srgbClr val="FF0000"/>
              </a:solidFill>
            </a:endParaRPr>
          </a:p>
        </p:txBody>
      </p:sp>
      <p:sp>
        <p:nvSpPr>
          <p:cNvPr id="4" name="TextBox 3"/>
          <p:cNvSpPr txBox="1"/>
          <p:nvPr/>
        </p:nvSpPr>
        <p:spPr>
          <a:xfrm>
            <a:off x="1224441" y="1556841"/>
            <a:ext cx="4674083"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 planted a Chikoo (Sapodilla) plant, scientifically known as </a:t>
            </a:r>
            <a:r>
              <a:rPr lang="en-US" i="1" dirty="0">
                <a:latin typeface="Times New Roman" panose="02020603050405020304" pitchFamily="18" charset="0"/>
                <a:cs typeface="Times New Roman" panose="02020603050405020304" pitchFamily="18" charset="0"/>
              </a:rPr>
              <a:t>Manilkara zapota</a:t>
            </a:r>
            <a:r>
              <a:rPr lang="en-US" dirty="0">
                <a:latin typeface="Times New Roman" panose="02020603050405020304" pitchFamily="18" charset="0"/>
                <a:cs typeface="Times New Roman" panose="02020603050405020304" pitchFamily="18" charset="0"/>
              </a:rPr>
              <a:t>, in Jayanagar Park. It’s an evergreen tree that grows well in warm areas like Bengaluru and produces sweet, nutritious fruits rich in vitamins and fiber. The plant helps purify the air by absorbing carbon dioxide and releasing oxygen, making the surroundings fresher. Its thick green leaves provide shade and attract birds, adding more life to the park. Planting the Chikoo tree supports a greener and healthier environment for everyone.</a:t>
            </a:r>
          </a:p>
        </p:txBody>
      </p:sp>
      <p:sp>
        <p:nvSpPr>
          <p:cNvPr id="7" name="AutoShape 4" descr="What is a tree? – definition, anatomy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4935FFAC-D6A4-1587-E328-CC0D6F6D6B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3770" y="1404975"/>
            <a:ext cx="4314939" cy="4566617"/>
          </a:xfrm>
          <a:prstGeom prst="rect">
            <a:avLst/>
          </a:prstGeom>
        </p:spPr>
      </p:pic>
    </p:spTree>
    <p:extLst>
      <p:ext uri="{BB962C8B-B14F-4D97-AF65-F5344CB8AC3E}">
        <p14:creationId xmlns:p14="http://schemas.microsoft.com/office/powerpoint/2010/main" val="2550568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a:cxnSpLocks/>
          </p:cNvCxnSpPr>
          <p:nvPr/>
        </p:nvCxnSpPr>
        <p:spPr>
          <a:xfrm flipH="1">
            <a:off x="2677189" y="1043837"/>
            <a:ext cx="7487158" cy="1594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5"/>
          <p:cNvGrpSpPr/>
          <p:nvPr/>
        </p:nvGrpSpPr>
        <p:grpSpPr>
          <a:xfrm rot="10800000">
            <a:off x="10908710" y="173303"/>
            <a:ext cx="951985" cy="847114"/>
            <a:chOff x="313844" y="5489699"/>
            <a:chExt cx="1066895" cy="1078155"/>
          </a:xfrm>
          <a:solidFill>
            <a:schemeClr val="accent2">
              <a:lumMod val="75000"/>
            </a:schemeClr>
          </a:solidFill>
        </p:grpSpPr>
        <p:sp>
          <p:nvSpPr>
            <p:cNvPr id="9" name="Rectangle 8"/>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0" name="Rectangle 9"/>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12" name="TextBox 11"/>
          <p:cNvSpPr txBox="1"/>
          <p:nvPr/>
        </p:nvSpPr>
        <p:spPr>
          <a:xfrm>
            <a:off x="2677189" y="384854"/>
            <a:ext cx="8152325" cy="584775"/>
          </a:xfrm>
          <a:prstGeom prst="rect">
            <a:avLst/>
          </a:prstGeom>
          <a:noFill/>
        </p:spPr>
        <p:txBody>
          <a:bodyPr wrap="square" rtlCol="0">
            <a:spAutoFit/>
          </a:bodyPr>
          <a:lstStyle/>
          <a:p>
            <a:pPr algn="ctr"/>
            <a:r>
              <a:rPr lang="en-US" sz="3200" dirty="0">
                <a:solidFill>
                  <a:srgbClr val="FF0000"/>
                </a:solidFill>
              </a:rPr>
              <a:t>Activity-2:Heritage walk and Crafts corner</a:t>
            </a:r>
            <a:endParaRPr lang="en-US" sz="3200" b="1" dirty="0">
              <a:solidFill>
                <a:srgbClr val="A02061"/>
              </a:solidFill>
              <a:latin typeface="Times New Roman" panose="02020603050405020304" pitchFamily="18" charset="0"/>
              <a:cs typeface="Times New Roman" panose="02020603050405020304" pitchFamily="18" charset="0"/>
            </a:endParaRPr>
          </a:p>
        </p:txBody>
      </p:sp>
      <p:sp>
        <p:nvSpPr>
          <p:cNvPr id="14" name="Footer Placeholder 13"/>
          <p:cNvSpPr>
            <a:spLocks noGrp="1"/>
          </p:cNvSpPr>
          <p:nvPr>
            <p:ph type="ftr" sz="quarter" idx="11"/>
          </p:nvPr>
        </p:nvSpPr>
        <p:spPr/>
        <p:txBody>
          <a:bodyPr/>
          <a:lstStyle/>
          <a:p>
            <a:pPr>
              <a:defRPr/>
            </a:pPr>
            <a:r>
              <a:rPr lang="en-IN" dirty="0"/>
              <a:t>Dr HNNCE Jayanagar Bengaluru-56070</a:t>
            </a:r>
          </a:p>
        </p:txBody>
      </p:sp>
      <p:grpSp>
        <p:nvGrpSpPr>
          <p:cNvPr id="3" name="Group 15"/>
          <p:cNvGrpSpPr/>
          <p:nvPr/>
        </p:nvGrpSpPr>
        <p:grpSpPr>
          <a:xfrm>
            <a:off x="379857" y="5719338"/>
            <a:ext cx="951985" cy="847114"/>
            <a:chOff x="313844" y="5489699"/>
            <a:chExt cx="1066895" cy="1078155"/>
          </a:xfrm>
          <a:solidFill>
            <a:schemeClr val="accent2">
              <a:lumMod val="75000"/>
            </a:schemeClr>
          </a:solidFill>
        </p:grpSpPr>
        <p:sp>
          <p:nvSpPr>
            <p:cNvPr id="18" name="Rectangle 17"/>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9" name="Rectangle 18"/>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22" name="Right Triangle 21"/>
          <p:cNvSpPr/>
          <p:nvPr/>
        </p:nvSpPr>
        <p:spPr>
          <a:xfrm rot="5400000">
            <a:off x="384314" y="-384314"/>
            <a:ext cx="1961324" cy="272995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descr="https://drhnnce.org.in/wp-content/uploads/2024/06/HN-NCE-logo-Sanskrit-e1720195930994.png"/>
          <p:cNvPicPr/>
          <p:nvPr/>
        </p:nvPicPr>
        <p:blipFill>
          <a:blip r:embed="rId2" cstate="print"/>
          <a:srcRect/>
          <a:stretch>
            <a:fillRect/>
          </a:stretch>
        </p:blipFill>
        <p:spPr bwMode="auto">
          <a:xfrm>
            <a:off x="0" y="0"/>
            <a:ext cx="1524000" cy="1205948"/>
          </a:xfrm>
          <a:prstGeom prst="rect">
            <a:avLst/>
          </a:prstGeom>
          <a:noFill/>
          <a:ln w="9525">
            <a:noFill/>
            <a:miter lim="800000"/>
            <a:headEnd/>
            <a:tailEnd/>
          </a:ln>
        </p:spPr>
      </p:pic>
      <p:sp>
        <p:nvSpPr>
          <p:cNvPr id="15" name="Right Triangle 14"/>
          <p:cNvSpPr/>
          <p:nvPr/>
        </p:nvSpPr>
        <p:spPr>
          <a:xfrm rot="16200000">
            <a:off x="10863470" y="5529469"/>
            <a:ext cx="1192696" cy="146436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lide Number Placeholder 16"/>
          <p:cNvSpPr>
            <a:spLocks noGrp="1"/>
          </p:cNvSpPr>
          <p:nvPr>
            <p:ph type="sldNum" sz="quarter" idx="12"/>
          </p:nvPr>
        </p:nvSpPr>
        <p:spPr>
          <a:xfrm>
            <a:off x="9276522" y="6303342"/>
            <a:ext cx="2743200" cy="365125"/>
          </a:xfrm>
        </p:spPr>
        <p:txBody>
          <a:bodyPr/>
          <a:lstStyle/>
          <a:p>
            <a:pPr>
              <a:defRPr/>
            </a:pPr>
            <a:fld id="{6F19ED06-7346-4EB5-9FCF-9D0A8A928F23}" type="slidenum">
              <a:rPr lang="en-IN" sz="2400" smtClean="0">
                <a:solidFill>
                  <a:srgbClr val="FF0000"/>
                </a:solidFill>
              </a:rPr>
              <a:pPr>
                <a:defRPr/>
              </a:pPr>
              <a:t>3</a:t>
            </a:fld>
            <a:endParaRPr lang="en-IN" sz="2400" dirty="0">
              <a:solidFill>
                <a:srgbClr val="FF0000"/>
              </a:solidFill>
            </a:endParaRPr>
          </a:p>
        </p:txBody>
      </p:sp>
      <p:sp>
        <p:nvSpPr>
          <p:cNvPr id="7" name="AutoShape 4" descr="What is a tree? – definition, anatomy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raphic 34">
            <a:extLst>
              <a:ext uri="{FF2B5EF4-FFF2-40B4-BE49-F238E27FC236}">
                <a16:creationId xmlns:a16="http://schemas.microsoft.com/office/drawing/2014/main" id="{4D0BB9E4-9E7E-194C-2C33-2D2DCBE34F6F}"/>
              </a:ext>
            </a:extLst>
          </p:cNvPr>
          <p:cNvSpPr>
            <a:spLocks/>
          </p:cNvSpPr>
          <p:nvPr/>
        </p:nvSpPr>
        <p:spPr>
          <a:xfrm>
            <a:off x="1171575" y="9448800"/>
            <a:ext cx="5422265" cy="53340"/>
          </a:xfrm>
          <a:custGeom>
            <a:avLst/>
            <a:gdLst/>
            <a:ahLst/>
            <a:cxnLst/>
            <a:rect l="l" t="t" r="r" b="b"/>
            <a:pathLst>
              <a:path w="5422265" h="53340">
                <a:moveTo>
                  <a:pt x="5422011" y="44183"/>
                </a:moveTo>
                <a:lnTo>
                  <a:pt x="0" y="44183"/>
                </a:lnTo>
                <a:lnTo>
                  <a:pt x="0" y="53314"/>
                </a:lnTo>
                <a:lnTo>
                  <a:pt x="5422011" y="53314"/>
                </a:lnTo>
                <a:lnTo>
                  <a:pt x="5422011" y="44183"/>
                </a:lnTo>
                <a:close/>
              </a:path>
              <a:path w="5422265" h="53340">
                <a:moveTo>
                  <a:pt x="5422011" y="0"/>
                </a:moveTo>
                <a:lnTo>
                  <a:pt x="0" y="0"/>
                </a:lnTo>
                <a:lnTo>
                  <a:pt x="0" y="36550"/>
                </a:lnTo>
                <a:lnTo>
                  <a:pt x="5422011" y="36550"/>
                </a:lnTo>
                <a:lnTo>
                  <a:pt x="5422011" y="0"/>
                </a:lnTo>
                <a:close/>
              </a:path>
            </a:pathLst>
          </a:custGeom>
          <a:solidFill>
            <a:srgbClr val="5F2020"/>
          </a:solidFill>
        </p:spPr>
        <p:txBody>
          <a:bodyPr wrap="square" lIns="0" tIns="0" rIns="0" bIns="0" rtlCol="0">
            <a:prstTxWarp prst="textNoShape">
              <a:avLst/>
            </a:prstTxWarp>
            <a:noAutofit/>
          </a:bodyPr>
          <a:lstStyle/>
          <a:p>
            <a:endParaRPr lang="en-IN"/>
          </a:p>
        </p:txBody>
      </p:sp>
      <p:pic>
        <p:nvPicPr>
          <p:cNvPr id="2049" name="Image 37">
            <a:extLst>
              <a:ext uri="{FF2B5EF4-FFF2-40B4-BE49-F238E27FC236}">
                <a16:creationId xmlns:a16="http://schemas.microsoft.com/office/drawing/2014/main" id="{F59C75D8-AAA5-AC70-E274-727CD2EBE87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3984" y="1614063"/>
            <a:ext cx="4905916" cy="4000451"/>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6">
            <a:extLst>
              <a:ext uri="{FF2B5EF4-FFF2-40B4-BE49-F238E27FC236}">
                <a16:creationId xmlns:a16="http://schemas.microsoft.com/office/drawing/2014/main" id="{8813978F-0575-C18D-D9C1-3D5673F6D532}"/>
              </a:ext>
            </a:extLst>
          </p:cNvPr>
          <p:cNvSpPr>
            <a:spLocks noChangeArrowheads="1"/>
          </p:cNvSpPr>
          <p:nvPr/>
        </p:nvSpPr>
        <p:spPr bwMode="auto">
          <a:xfrm>
            <a:off x="0" y="187896"/>
            <a:ext cx="184731"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6135688" algn="l"/>
              </a:tabLst>
              <a:defRPr>
                <a:solidFill>
                  <a:schemeClr val="tx1"/>
                </a:solidFill>
                <a:latin typeface="Arial" panose="020B0604020202020204" pitchFamily="34" charset="0"/>
              </a:defRPr>
            </a:lvl1pPr>
            <a:lvl2pPr eaLnBrk="0" hangingPunct="0">
              <a:tabLst>
                <a:tab pos="6135688" algn="l"/>
              </a:tabLst>
              <a:defRPr>
                <a:solidFill>
                  <a:schemeClr val="tx1"/>
                </a:solidFill>
                <a:latin typeface="Arial" panose="020B0604020202020204" pitchFamily="34" charset="0"/>
              </a:defRPr>
            </a:lvl2pPr>
            <a:lvl3pPr eaLnBrk="0" hangingPunct="0">
              <a:tabLst>
                <a:tab pos="6135688" algn="l"/>
              </a:tabLst>
              <a:defRPr>
                <a:solidFill>
                  <a:schemeClr val="tx1"/>
                </a:solidFill>
                <a:latin typeface="Arial" panose="020B0604020202020204" pitchFamily="34" charset="0"/>
              </a:defRPr>
            </a:lvl3pPr>
            <a:lvl4pPr eaLnBrk="0" hangingPunct="0">
              <a:tabLst>
                <a:tab pos="6135688" algn="l"/>
              </a:tabLst>
              <a:defRPr>
                <a:solidFill>
                  <a:schemeClr val="tx1"/>
                </a:solidFill>
                <a:latin typeface="Arial" panose="020B0604020202020204" pitchFamily="34" charset="0"/>
              </a:defRPr>
            </a:lvl4pPr>
            <a:lvl5pPr eaLnBrk="0" hangingPunct="0">
              <a:tabLst>
                <a:tab pos="6135688" algn="l"/>
              </a:tabLst>
              <a:defRPr>
                <a:solidFill>
                  <a:schemeClr val="tx1"/>
                </a:solidFill>
                <a:latin typeface="Arial" panose="020B0604020202020204" pitchFamily="34" charset="0"/>
              </a:defRPr>
            </a:lvl5pPr>
            <a:lvl6pPr eaLnBrk="0" fontAlgn="base" hangingPunct="0">
              <a:spcBef>
                <a:spcPct val="0"/>
              </a:spcBef>
              <a:spcAft>
                <a:spcPct val="0"/>
              </a:spcAft>
              <a:tabLst>
                <a:tab pos="6135688" algn="l"/>
              </a:tabLst>
              <a:defRPr>
                <a:solidFill>
                  <a:schemeClr val="tx1"/>
                </a:solidFill>
                <a:latin typeface="Arial" panose="020B0604020202020204" pitchFamily="34" charset="0"/>
              </a:defRPr>
            </a:lvl6pPr>
            <a:lvl7pPr eaLnBrk="0" fontAlgn="base" hangingPunct="0">
              <a:spcBef>
                <a:spcPct val="0"/>
              </a:spcBef>
              <a:spcAft>
                <a:spcPct val="0"/>
              </a:spcAft>
              <a:tabLst>
                <a:tab pos="6135688" algn="l"/>
              </a:tabLst>
              <a:defRPr>
                <a:solidFill>
                  <a:schemeClr val="tx1"/>
                </a:solidFill>
                <a:latin typeface="Arial" panose="020B0604020202020204" pitchFamily="34" charset="0"/>
              </a:defRPr>
            </a:lvl7pPr>
            <a:lvl8pPr eaLnBrk="0" fontAlgn="base" hangingPunct="0">
              <a:spcBef>
                <a:spcPct val="0"/>
              </a:spcBef>
              <a:spcAft>
                <a:spcPct val="0"/>
              </a:spcAft>
              <a:tabLst>
                <a:tab pos="6135688" algn="l"/>
              </a:tabLst>
              <a:defRPr>
                <a:solidFill>
                  <a:schemeClr val="tx1"/>
                </a:solidFill>
                <a:latin typeface="Arial" panose="020B0604020202020204" pitchFamily="34" charset="0"/>
              </a:defRPr>
            </a:lvl8pPr>
            <a:lvl9pPr eaLnBrk="0" fontAlgn="base" hangingPunct="0">
              <a:spcBef>
                <a:spcPct val="0"/>
              </a:spcBef>
              <a:spcAft>
                <a:spcPct val="0"/>
              </a:spcAft>
              <a:tabLst>
                <a:tab pos="6135688"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135688" algn="l"/>
              </a:tabLst>
            </a:pPr>
            <a:br>
              <a:rPr kumimoji="0" lang="en-US"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8">
            <a:extLst>
              <a:ext uri="{FF2B5EF4-FFF2-40B4-BE49-F238E27FC236}">
                <a16:creationId xmlns:a16="http://schemas.microsoft.com/office/drawing/2014/main" id="{B6EDA787-345B-FCC9-CD02-F3A7B5DA614B}"/>
              </a:ext>
            </a:extLst>
          </p:cNvPr>
          <p:cNvSpPr>
            <a:spLocks noChangeArrowheads="1"/>
          </p:cNvSpPr>
          <p:nvPr/>
        </p:nvSpPr>
        <p:spPr bwMode="auto">
          <a:xfrm>
            <a:off x="0" y="654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TextBox 24">
            <a:extLst>
              <a:ext uri="{FF2B5EF4-FFF2-40B4-BE49-F238E27FC236}">
                <a16:creationId xmlns:a16="http://schemas.microsoft.com/office/drawing/2014/main" id="{C02A14A9-5A4B-ECEC-97AB-555B08595646}"/>
              </a:ext>
            </a:extLst>
          </p:cNvPr>
          <p:cNvSpPr txBox="1"/>
          <p:nvPr/>
        </p:nvSpPr>
        <p:spPr>
          <a:xfrm rot="10800000" flipV="1">
            <a:off x="372100" y="1502688"/>
            <a:ext cx="6338279" cy="5355312"/>
          </a:xfrm>
          <a:prstGeom prst="rect">
            <a:avLst/>
          </a:prstGeom>
          <a:noFill/>
        </p:spPr>
        <p:txBody>
          <a:bodyPr wrap="square" rtlCol="0">
            <a:spAutoFit/>
          </a:bodyPr>
          <a:lstStyle/>
          <a:p>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During our heritage walk, we visited the </a:t>
            </a:r>
            <a:r>
              <a:rPr lang="en-US" sz="1600" b="1" dirty="0">
                <a:latin typeface="Times New Roman" panose="02020603050405020304" pitchFamily="18" charset="0"/>
                <a:cs typeface="Times New Roman" panose="02020603050405020304" pitchFamily="18" charset="0"/>
              </a:rPr>
              <a:t>Banashankari Temple</a:t>
            </a:r>
            <a:r>
              <a:rPr lang="en-US" sz="1600" dirty="0">
                <a:latin typeface="Times New Roman" panose="02020603050405020304" pitchFamily="18" charset="0"/>
                <a:cs typeface="Times New Roman" panose="02020603050405020304" pitchFamily="18" charset="0"/>
              </a:rPr>
              <a:t> in Banashankari, one of Bengaluru’s most revered spiritual landmarks. This temple, with its centuries-old roots, has been a place of devotion and community gathering for generations. Known for its traditional Dravidian-style architecture and serene atmosphere, it continues to be a favorite stop for locals and pilgrims alike.</a:t>
            </a:r>
          </a:p>
          <a:p>
            <a:r>
              <a:rPr lang="en-US" sz="1600" dirty="0">
                <a:latin typeface="Times New Roman" panose="02020603050405020304" pitchFamily="18" charset="0"/>
                <a:cs typeface="Times New Roman" panose="02020603050405020304" pitchFamily="18" charset="0"/>
              </a:rPr>
              <a:t>I experienced the temple’s unique blend of spirituality and heritage — the sanctum dedicated to Goddess Banashankari radiates peace, while the surrounding courtyards echo with the chants of devotees. The temple is not just a religious site but also a cultural hub, hosting vibrant festivals like </a:t>
            </a:r>
            <a:r>
              <a:rPr lang="en-US" sz="1600" b="1" dirty="0">
                <a:latin typeface="Times New Roman" panose="02020603050405020304" pitchFamily="18" charset="0"/>
                <a:cs typeface="Times New Roman" panose="02020603050405020304" pitchFamily="18" charset="0"/>
              </a:rPr>
              <a:t>Banashankari </a:t>
            </a:r>
            <a:r>
              <a:rPr lang="en-US" sz="1600" b="1" dirty="0" err="1">
                <a:latin typeface="Times New Roman" panose="02020603050405020304" pitchFamily="18" charset="0"/>
                <a:cs typeface="Times New Roman" panose="02020603050405020304" pitchFamily="18" charset="0"/>
              </a:rPr>
              <a:t>Jatre</a:t>
            </a:r>
            <a:r>
              <a:rPr lang="en-US" sz="1600" dirty="0">
                <a:latin typeface="Times New Roman" panose="02020603050405020304" pitchFamily="18" charset="0"/>
                <a:cs typeface="Times New Roman" panose="02020603050405020304" pitchFamily="18" charset="0"/>
              </a:rPr>
              <a:t>, where the streets come alive with colors, music, and traditional rituals.</a:t>
            </a:r>
          </a:p>
          <a:p>
            <a:r>
              <a:rPr lang="en-US" sz="1600" dirty="0">
                <a:latin typeface="Times New Roman" panose="02020603050405020304" pitchFamily="18" charset="0"/>
                <a:cs typeface="Times New Roman" panose="02020603050405020304" pitchFamily="18" charset="0"/>
              </a:rPr>
              <a:t>Banashankari Temple was originally established in the 1910s by devotees who brought the idol of the goddess from Badami, and over time it has grown into one of South Bengaluru’s most iconic heritage sites. Despite urban growth around it, the temple has preserved its old-world charm and continues to be a living testimony to Bengaluru’s traditions and faith.</a:t>
            </a:r>
          </a:p>
          <a:p>
            <a:br>
              <a:rPr lang="en-US" dirty="0"/>
            </a:br>
            <a:endParaRPr lang="en-US" dirty="0"/>
          </a:p>
          <a:p>
            <a:endParaRPr lang="en-IN" dirty="0"/>
          </a:p>
        </p:txBody>
      </p:sp>
    </p:spTree>
    <p:extLst>
      <p:ext uri="{BB962C8B-B14F-4D97-AF65-F5344CB8AC3E}">
        <p14:creationId xmlns:p14="http://schemas.microsoft.com/office/powerpoint/2010/main" val="1147917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DBD44-3E11-AE48-6DD6-9939619863BA}"/>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41E499B-7F8C-A0ED-64A4-538C18153B96}"/>
              </a:ext>
            </a:extLst>
          </p:cNvPr>
          <p:cNvCxnSpPr>
            <a:cxnSpLocks/>
          </p:cNvCxnSpPr>
          <p:nvPr/>
        </p:nvCxnSpPr>
        <p:spPr>
          <a:xfrm flipH="1">
            <a:off x="2677189" y="1043837"/>
            <a:ext cx="7487158" cy="1594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5">
            <a:extLst>
              <a:ext uri="{FF2B5EF4-FFF2-40B4-BE49-F238E27FC236}">
                <a16:creationId xmlns:a16="http://schemas.microsoft.com/office/drawing/2014/main" id="{679B5B55-114A-6721-B20C-0524CE9340ED}"/>
              </a:ext>
            </a:extLst>
          </p:cNvPr>
          <p:cNvGrpSpPr/>
          <p:nvPr/>
        </p:nvGrpSpPr>
        <p:grpSpPr>
          <a:xfrm rot="10800000">
            <a:off x="10908710" y="173303"/>
            <a:ext cx="951985" cy="847114"/>
            <a:chOff x="313844" y="5489699"/>
            <a:chExt cx="1066895" cy="1078155"/>
          </a:xfrm>
          <a:solidFill>
            <a:schemeClr val="accent2">
              <a:lumMod val="75000"/>
            </a:schemeClr>
          </a:solidFill>
        </p:grpSpPr>
        <p:sp>
          <p:nvSpPr>
            <p:cNvPr id="9" name="Rectangle 8">
              <a:extLst>
                <a:ext uri="{FF2B5EF4-FFF2-40B4-BE49-F238E27FC236}">
                  <a16:creationId xmlns:a16="http://schemas.microsoft.com/office/drawing/2014/main" id="{1819A399-4E89-FC46-FCDA-155590B78EFB}"/>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0" name="Rectangle 9">
              <a:extLst>
                <a:ext uri="{FF2B5EF4-FFF2-40B4-BE49-F238E27FC236}">
                  <a16:creationId xmlns:a16="http://schemas.microsoft.com/office/drawing/2014/main" id="{23C86586-434B-7F82-21EF-435376973106}"/>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12" name="TextBox 11">
            <a:extLst>
              <a:ext uri="{FF2B5EF4-FFF2-40B4-BE49-F238E27FC236}">
                <a16:creationId xmlns:a16="http://schemas.microsoft.com/office/drawing/2014/main" id="{07B3EA67-E936-26D4-D49D-818CF35DD24F}"/>
              </a:ext>
            </a:extLst>
          </p:cNvPr>
          <p:cNvSpPr txBox="1"/>
          <p:nvPr/>
        </p:nvSpPr>
        <p:spPr>
          <a:xfrm>
            <a:off x="2677189" y="384854"/>
            <a:ext cx="8152325" cy="584775"/>
          </a:xfrm>
          <a:prstGeom prst="rect">
            <a:avLst/>
          </a:prstGeom>
          <a:noFill/>
        </p:spPr>
        <p:txBody>
          <a:bodyPr wrap="square" rtlCol="0">
            <a:spAutoFit/>
          </a:bodyPr>
          <a:lstStyle/>
          <a:p>
            <a:pPr algn="ctr"/>
            <a:r>
              <a:rPr lang="en-US" sz="3200" dirty="0">
                <a:solidFill>
                  <a:srgbClr val="FF0000"/>
                </a:solidFill>
              </a:rPr>
              <a:t>Activity-2:Heritage walk and Crafts corner</a:t>
            </a:r>
            <a:endParaRPr lang="en-US" sz="3200" b="1" dirty="0">
              <a:solidFill>
                <a:srgbClr val="A02061"/>
              </a:solidFill>
              <a:latin typeface="Times New Roman" panose="02020603050405020304" pitchFamily="18" charset="0"/>
              <a:cs typeface="Times New Roman" panose="02020603050405020304" pitchFamily="18" charset="0"/>
            </a:endParaRPr>
          </a:p>
        </p:txBody>
      </p:sp>
      <p:sp>
        <p:nvSpPr>
          <p:cNvPr id="14" name="Footer Placeholder 13">
            <a:extLst>
              <a:ext uri="{FF2B5EF4-FFF2-40B4-BE49-F238E27FC236}">
                <a16:creationId xmlns:a16="http://schemas.microsoft.com/office/drawing/2014/main" id="{0E69050E-1AC1-25D5-7FA1-98C5FEC8616E}"/>
              </a:ext>
            </a:extLst>
          </p:cNvPr>
          <p:cNvSpPr>
            <a:spLocks noGrp="1"/>
          </p:cNvSpPr>
          <p:nvPr>
            <p:ph type="ftr" sz="quarter" idx="11"/>
          </p:nvPr>
        </p:nvSpPr>
        <p:spPr/>
        <p:txBody>
          <a:bodyPr/>
          <a:lstStyle/>
          <a:p>
            <a:pPr>
              <a:defRPr/>
            </a:pPr>
            <a:r>
              <a:rPr lang="en-IN" dirty="0"/>
              <a:t>Dr HNNCE Jayanagar Bengaluru-56070</a:t>
            </a:r>
          </a:p>
        </p:txBody>
      </p:sp>
      <p:grpSp>
        <p:nvGrpSpPr>
          <p:cNvPr id="3" name="Group 15">
            <a:extLst>
              <a:ext uri="{FF2B5EF4-FFF2-40B4-BE49-F238E27FC236}">
                <a16:creationId xmlns:a16="http://schemas.microsoft.com/office/drawing/2014/main" id="{43AD3BDB-60E5-426C-DC3E-79B7721B98EB}"/>
              </a:ext>
            </a:extLst>
          </p:cNvPr>
          <p:cNvGrpSpPr/>
          <p:nvPr/>
        </p:nvGrpSpPr>
        <p:grpSpPr>
          <a:xfrm>
            <a:off x="379857" y="5719338"/>
            <a:ext cx="951985" cy="847114"/>
            <a:chOff x="313844" y="5489699"/>
            <a:chExt cx="1066895" cy="1078155"/>
          </a:xfrm>
          <a:solidFill>
            <a:schemeClr val="accent2">
              <a:lumMod val="75000"/>
            </a:schemeClr>
          </a:solidFill>
        </p:grpSpPr>
        <p:sp>
          <p:nvSpPr>
            <p:cNvPr id="18" name="Rectangle 17">
              <a:extLst>
                <a:ext uri="{FF2B5EF4-FFF2-40B4-BE49-F238E27FC236}">
                  <a16:creationId xmlns:a16="http://schemas.microsoft.com/office/drawing/2014/main" id="{3FF7B3C7-9FB5-7526-4F9F-56ECE58D4B4D}"/>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9" name="Rectangle 18">
              <a:extLst>
                <a:ext uri="{FF2B5EF4-FFF2-40B4-BE49-F238E27FC236}">
                  <a16:creationId xmlns:a16="http://schemas.microsoft.com/office/drawing/2014/main" id="{508B7D5C-E339-608A-2639-5D89D506A2AC}"/>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22" name="Right Triangle 21">
            <a:extLst>
              <a:ext uri="{FF2B5EF4-FFF2-40B4-BE49-F238E27FC236}">
                <a16:creationId xmlns:a16="http://schemas.microsoft.com/office/drawing/2014/main" id="{E3D58D94-FF70-E9EE-6013-5B6CB4804DF9}"/>
              </a:ext>
            </a:extLst>
          </p:cNvPr>
          <p:cNvSpPr/>
          <p:nvPr/>
        </p:nvSpPr>
        <p:spPr>
          <a:xfrm rot="5400000">
            <a:off x="384314" y="-384314"/>
            <a:ext cx="1961324" cy="272995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descr="https://drhnnce.org.in/wp-content/uploads/2024/06/HN-NCE-logo-Sanskrit-e1720195930994.png">
            <a:extLst>
              <a:ext uri="{FF2B5EF4-FFF2-40B4-BE49-F238E27FC236}">
                <a16:creationId xmlns:a16="http://schemas.microsoft.com/office/drawing/2014/main" id="{CECD240C-20D1-7875-F33F-4BBCFF550513}"/>
              </a:ext>
            </a:extLst>
          </p:cNvPr>
          <p:cNvPicPr/>
          <p:nvPr/>
        </p:nvPicPr>
        <p:blipFill>
          <a:blip r:embed="rId2" cstate="print"/>
          <a:srcRect/>
          <a:stretch>
            <a:fillRect/>
          </a:stretch>
        </p:blipFill>
        <p:spPr bwMode="auto">
          <a:xfrm>
            <a:off x="0" y="0"/>
            <a:ext cx="1524000" cy="1205948"/>
          </a:xfrm>
          <a:prstGeom prst="rect">
            <a:avLst/>
          </a:prstGeom>
          <a:noFill/>
          <a:ln w="9525">
            <a:noFill/>
            <a:miter lim="800000"/>
            <a:headEnd/>
            <a:tailEnd/>
          </a:ln>
        </p:spPr>
      </p:pic>
      <p:sp>
        <p:nvSpPr>
          <p:cNvPr id="15" name="Right Triangle 14">
            <a:extLst>
              <a:ext uri="{FF2B5EF4-FFF2-40B4-BE49-F238E27FC236}">
                <a16:creationId xmlns:a16="http://schemas.microsoft.com/office/drawing/2014/main" id="{393A8550-44C0-E73E-C82F-62FC8D4018C1}"/>
              </a:ext>
            </a:extLst>
          </p:cNvPr>
          <p:cNvSpPr/>
          <p:nvPr/>
        </p:nvSpPr>
        <p:spPr>
          <a:xfrm rot="16200000">
            <a:off x="10863470" y="5529469"/>
            <a:ext cx="1192696" cy="146436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lide Number Placeholder 16">
            <a:extLst>
              <a:ext uri="{FF2B5EF4-FFF2-40B4-BE49-F238E27FC236}">
                <a16:creationId xmlns:a16="http://schemas.microsoft.com/office/drawing/2014/main" id="{05AC56C1-101E-3656-48ED-43375CCFA720}"/>
              </a:ext>
            </a:extLst>
          </p:cNvPr>
          <p:cNvSpPr>
            <a:spLocks noGrp="1"/>
          </p:cNvSpPr>
          <p:nvPr>
            <p:ph type="sldNum" sz="quarter" idx="12"/>
          </p:nvPr>
        </p:nvSpPr>
        <p:spPr>
          <a:xfrm>
            <a:off x="9276522" y="6303342"/>
            <a:ext cx="2743200" cy="365125"/>
          </a:xfrm>
        </p:spPr>
        <p:txBody>
          <a:bodyPr/>
          <a:lstStyle/>
          <a:p>
            <a:pPr>
              <a:defRPr/>
            </a:pPr>
            <a:fld id="{6F19ED06-7346-4EB5-9FCF-9D0A8A928F23}" type="slidenum">
              <a:rPr lang="en-IN" sz="2400" smtClean="0">
                <a:solidFill>
                  <a:srgbClr val="FF0000"/>
                </a:solidFill>
              </a:rPr>
              <a:pPr>
                <a:defRPr/>
              </a:pPr>
              <a:t>4</a:t>
            </a:fld>
            <a:endParaRPr lang="en-IN" sz="2400" dirty="0">
              <a:solidFill>
                <a:srgbClr val="FF0000"/>
              </a:solidFill>
            </a:endParaRPr>
          </a:p>
        </p:txBody>
      </p:sp>
      <p:sp>
        <p:nvSpPr>
          <p:cNvPr id="7" name="AutoShape 4" descr="What is a tree? – definition, anatomy ...">
            <a:extLst>
              <a:ext uri="{FF2B5EF4-FFF2-40B4-BE49-F238E27FC236}">
                <a16:creationId xmlns:a16="http://schemas.microsoft.com/office/drawing/2014/main" id="{E2DE4E19-8B48-1A9C-96E9-0008776551B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raphic 34">
            <a:extLst>
              <a:ext uri="{FF2B5EF4-FFF2-40B4-BE49-F238E27FC236}">
                <a16:creationId xmlns:a16="http://schemas.microsoft.com/office/drawing/2014/main" id="{6CF8D454-055A-E54F-9CF5-E679A8E8DEDA}"/>
              </a:ext>
            </a:extLst>
          </p:cNvPr>
          <p:cNvSpPr>
            <a:spLocks/>
          </p:cNvSpPr>
          <p:nvPr/>
        </p:nvSpPr>
        <p:spPr>
          <a:xfrm>
            <a:off x="1171575" y="9448800"/>
            <a:ext cx="5422265" cy="53340"/>
          </a:xfrm>
          <a:custGeom>
            <a:avLst/>
            <a:gdLst/>
            <a:ahLst/>
            <a:cxnLst/>
            <a:rect l="l" t="t" r="r" b="b"/>
            <a:pathLst>
              <a:path w="5422265" h="53340">
                <a:moveTo>
                  <a:pt x="5422011" y="44183"/>
                </a:moveTo>
                <a:lnTo>
                  <a:pt x="0" y="44183"/>
                </a:lnTo>
                <a:lnTo>
                  <a:pt x="0" y="53314"/>
                </a:lnTo>
                <a:lnTo>
                  <a:pt x="5422011" y="53314"/>
                </a:lnTo>
                <a:lnTo>
                  <a:pt x="5422011" y="44183"/>
                </a:lnTo>
                <a:close/>
              </a:path>
              <a:path w="5422265" h="53340">
                <a:moveTo>
                  <a:pt x="5422011" y="0"/>
                </a:moveTo>
                <a:lnTo>
                  <a:pt x="0" y="0"/>
                </a:lnTo>
                <a:lnTo>
                  <a:pt x="0" y="36550"/>
                </a:lnTo>
                <a:lnTo>
                  <a:pt x="5422011" y="36550"/>
                </a:lnTo>
                <a:lnTo>
                  <a:pt x="5422011" y="0"/>
                </a:lnTo>
                <a:close/>
              </a:path>
            </a:pathLst>
          </a:custGeom>
          <a:solidFill>
            <a:srgbClr val="5F2020"/>
          </a:solidFill>
        </p:spPr>
        <p:txBody>
          <a:bodyPr wrap="square" lIns="0" tIns="0" rIns="0" bIns="0" rtlCol="0">
            <a:prstTxWarp prst="textNoShape">
              <a:avLst/>
            </a:prstTxWarp>
            <a:noAutofit/>
          </a:bodyPr>
          <a:lstStyle/>
          <a:p>
            <a:endParaRPr lang="en-IN"/>
          </a:p>
        </p:txBody>
      </p:sp>
      <p:sp>
        <p:nvSpPr>
          <p:cNvPr id="16" name="Rectangle 6">
            <a:extLst>
              <a:ext uri="{FF2B5EF4-FFF2-40B4-BE49-F238E27FC236}">
                <a16:creationId xmlns:a16="http://schemas.microsoft.com/office/drawing/2014/main" id="{34CB696B-A4B1-CA20-4E47-1D322494C469}"/>
              </a:ext>
            </a:extLst>
          </p:cNvPr>
          <p:cNvSpPr>
            <a:spLocks noChangeArrowheads="1"/>
          </p:cNvSpPr>
          <p:nvPr/>
        </p:nvSpPr>
        <p:spPr bwMode="auto">
          <a:xfrm>
            <a:off x="0" y="187896"/>
            <a:ext cx="184731"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6135688" algn="l"/>
              </a:tabLst>
              <a:defRPr>
                <a:solidFill>
                  <a:schemeClr val="tx1"/>
                </a:solidFill>
                <a:latin typeface="Arial" panose="020B0604020202020204" pitchFamily="34" charset="0"/>
              </a:defRPr>
            </a:lvl1pPr>
            <a:lvl2pPr eaLnBrk="0" hangingPunct="0">
              <a:tabLst>
                <a:tab pos="6135688" algn="l"/>
              </a:tabLst>
              <a:defRPr>
                <a:solidFill>
                  <a:schemeClr val="tx1"/>
                </a:solidFill>
                <a:latin typeface="Arial" panose="020B0604020202020204" pitchFamily="34" charset="0"/>
              </a:defRPr>
            </a:lvl2pPr>
            <a:lvl3pPr eaLnBrk="0" hangingPunct="0">
              <a:tabLst>
                <a:tab pos="6135688" algn="l"/>
              </a:tabLst>
              <a:defRPr>
                <a:solidFill>
                  <a:schemeClr val="tx1"/>
                </a:solidFill>
                <a:latin typeface="Arial" panose="020B0604020202020204" pitchFamily="34" charset="0"/>
              </a:defRPr>
            </a:lvl3pPr>
            <a:lvl4pPr eaLnBrk="0" hangingPunct="0">
              <a:tabLst>
                <a:tab pos="6135688" algn="l"/>
              </a:tabLst>
              <a:defRPr>
                <a:solidFill>
                  <a:schemeClr val="tx1"/>
                </a:solidFill>
                <a:latin typeface="Arial" panose="020B0604020202020204" pitchFamily="34" charset="0"/>
              </a:defRPr>
            </a:lvl4pPr>
            <a:lvl5pPr eaLnBrk="0" hangingPunct="0">
              <a:tabLst>
                <a:tab pos="6135688" algn="l"/>
              </a:tabLst>
              <a:defRPr>
                <a:solidFill>
                  <a:schemeClr val="tx1"/>
                </a:solidFill>
                <a:latin typeface="Arial" panose="020B0604020202020204" pitchFamily="34" charset="0"/>
              </a:defRPr>
            </a:lvl5pPr>
            <a:lvl6pPr eaLnBrk="0" fontAlgn="base" hangingPunct="0">
              <a:spcBef>
                <a:spcPct val="0"/>
              </a:spcBef>
              <a:spcAft>
                <a:spcPct val="0"/>
              </a:spcAft>
              <a:tabLst>
                <a:tab pos="6135688" algn="l"/>
              </a:tabLst>
              <a:defRPr>
                <a:solidFill>
                  <a:schemeClr val="tx1"/>
                </a:solidFill>
                <a:latin typeface="Arial" panose="020B0604020202020204" pitchFamily="34" charset="0"/>
              </a:defRPr>
            </a:lvl6pPr>
            <a:lvl7pPr eaLnBrk="0" fontAlgn="base" hangingPunct="0">
              <a:spcBef>
                <a:spcPct val="0"/>
              </a:spcBef>
              <a:spcAft>
                <a:spcPct val="0"/>
              </a:spcAft>
              <a:tabLst>
                <a:tab pos="6135688" algn="l"/>
              </a:tabLst>
              <a:defRPr>
                <a:solidFill>
                  <a:schemeClr val="tx1"/>
                </a:solidFill>
                <a:latin typeface="Arial" panose="020B0604020202020204" pitchFamily="34" charset="0"/>
              </a:defRPr>
            </a:lvl7pPr>
            <a:lvl8pPr eaLnBrk="0" fontAlgn="base" hangingPunct="0">
              <a:spcBef>
                <a:spcPct val="0"/>
              </a:spcBef>
              <a:spcAft>
                <a:spcPct val="0"/>
              </a:spcAft>
              <a:tabLst>
                <a:tab pos="6135688" algn="l"/>
              </a:tabLst>
              <a:defRPr>
                <a:solidFill>
                  <a:schemeClr val="tx1"/>
                </a:solidFill>
                <a:latin typeface="Arial" panose="020B0604020202020204" pitchFamily="34" charset="0"/>
              </a:defRPr>
            </a:lvl8pPr>
            <a:lvl9pPr eaLnBrk="0" fontAlgn="base" hangingPunct="0">
              <a:spcBef>
                <a:spcPct val="0"/>
              </a:spcBef>
              <a:spcAft>
                <a:spcPct val="0"/>
              </a:spcAft>
              <a:tabLst>
                <a:tab pos="6135688"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135688" algn="l"/>
              </a:tabLst>
            </a:pPr>
            <a:br>
              <a:rPr kumimoji="0" lang="en-US"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8">
            <a:extLst>
              <a:ext uri="{FF2B5EF4-FFF2-40B4-BE49-F238E27FC236}">
                <a16:creationId xmlns:a16="http://schemas.microsoft.com/office/drawing/2014/main" id="{2BA67B34-1B06-BE9D-DE06-ED977FDA9635}"/>
              </a:ext>
            </a:extLst>
          </p:cNvPr>
          <p:cNvSpPr>
            <a:spLocks noChangeArrowheads="1"/>
          </p:cNvSpPr>
          <p:nvPr/>
        </p:nvSpPr>
        <p:spPr bwMode="auto">
          <a:xfrm>
            <a:off x="0" y="654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TextBox 24">
            <a:extLst>
              <a:ext uri="{FF2B5EF4-FFF2-40B4-BE49-F238E27FC236}">
                <a16:creationId xmlns:a16="http://schemas.microsoft.com/office/drawing/2014/main" id="{9F5DDA0D-F883-4AA0-5BB0-F80B44E9C0A1}"/>
              </a:ext>
            </a:extLst>
          </p:cNvPr>
          <p:cNvSpPr txBox="1"/>
          <p:nvPr/>
        </p:nvSpPr>
        <p:spPr>
          <a:xfrm rot="10800000" flipV="1">
            <a:off x="647843" y="1453426"/>
            <a:ext cx="6338279" cy="4616648"/>
          </a:xfrm>
          <a:prstGeom prst="rect">
            <a:avLst/>
          </a:prstGeom>
          <a:noFill/>
        </p:spPr>
        <p:txBody>
          <a:bodyPr wrap="square" rtlCol="0">
            <a:spAutoFit/>
          </a:bodyPr>
          <a:lstStyle/>
          <a:p>
            <a:endParaRPr lang="en-US" sz="16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During a heritage walk in Banashankari, Bengaluru, I came across a vibrant street-side display of traditional handcrafted items that beautifully showcased Karnataka’s cultural richness. The arrangement included woven baskets of various shapes and sizes, handmade mats crafted from natural fibers, and intricately painted earthen pots with white designs. These items reflected the skill and sustainability of local artisans, offering insight into eco-friendly alternatives to modern materials. Observing this display deepened my appreciation for indigenous crafts and highlighted the importance of preserving traditional livelihoods and promoting cultural awareness in urban spaces.</a:t>
            </a:r>
          </a:p>
          <a:p>
            <a:endParaRPr lang="en-IN" dirty="0"/>
          </a:p>
        </p:txBody>
      </p:sp>
      <p:pic>
        <p:nvPicPr>
          <p:cNvPr id="8" name="Picture 7">
            <a:extLst>
              <a:ext uri="{FF2B5EF4-FFF2-40B4-BE49-F238E27FC236}">
                <a16:creationId xmlns:a16="http://schemas.microsoft.com/office/drawing/2014/main" id="{673614CA-8CAC-DEC1-3196-6CB00190BF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18469" y="1200808"/>
            <a:ext cx="3790241" cy="2534710"/>
          </a:xfrm>
          <a:prstGeom prst="rect">
            <a:avLst/>
          </a:prstGeom>
        </p:spPr>
      </p:pic>
      <p:pic>
        <p:nvPicPr>
          <p:cNvPr id="24" name="Picture 23">
            <a:extLst>
              <a:ext uri="{FF2B5EF4-FFF2-40B4-BE49-F238E27FC236}">
                <a16:creationId xmlns:a16="http://schemas.microsoft.com/office/drawing/2014/main" id="{94402D4D-7C71-FDD4-5864-5BCA308DCC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31304" y="3813738"/>
            <a:ext cx="3545877" cy="2659408"/>
          </a:xfrm>
          <a:prstGeom prst="rect">
            <a:avLst/>
          </a:prstGeom>
        </p:spPr>
      </p:pic>
    </p:spTree>
    <p:extLst>
      <p:ext uri="{BB962C8B-B14F-4D97-AF65-F5344CB8AC3E}">
        <p14:creationId xmlns:p14="http://schemas.microsoft.com/office/powerpoint/2010/main" val="681141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a:cxnSpLocks/>
          </p:cNvCxnSpPr>
          <p:nvPr/>
        </p:nvCxnSpPr>
        <p:spPr>
          <a:xfrm flipH="1">
            <a:off x="2677189" y="1043837"/>
            <a:ext cx="7487158" cy="1594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5"/>
          <p:cNvGrpSpPr/>
          <p:nvPr/>
        </p:nvGrpSpPr>
        <p:grpSpPr>
          <a:xfrm rot="10800000">
            <a:off x="10908710" y="173303"/>
            <a:ext cx="951985" cy="847114"/>
            <a:chOff x="313844" y="5489699"/>
            <a:chExt cx="1066895" cy="1078155"/>
          </a:xfrm>
          <a:solidFill>
            <a:schemeClr val="accent2">
              <a:lumMod val="75000"/>
            </a:schemeClr>
          </a:solidFill>
        </p:grpSpPr>
        <p:sp>
          <p:nvSpPr>
            <p:cNvPr id="9" name="Rectangle 8"/>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0" name="Rectangle 9"/>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12" name="TextBox 11"/>
          <p:cNvSpPr txBox="1"/>
          <p:nvPr/>
        </p:nvSpPr>
        <p:spPr>
          <a:xfrm>
            <a:off x="1763502" y="334247"/>
            <a:ext cx="8892438" cy="523220"/>
          </a:xfrm>
          <a:prstGeom prst="rect">
            <a:avLst/>
          </a:prstGeom>
          <a:noFill/>
        </p:spPr>
        <p:txBody>
          <a:bodyPr wrap="square" rtlCol="0">
            <a:spAutoFit/>
          </a:bodyPr>
          <a:lstStyle/>
          <a:p>
            <a:pPr algn="ctr"/>
            <a:r>
              <a:rPr lang="en-US" sz="2800" dirty="0">
                <a:solidFill>
                  <a:srgbClr val="FF0000"/>
                </a:solidFill>
              </a:rPr>
              <a:t>Activity-3 Organic farming and waste management</a:t>
            </a:r>
            <a:endParaRPr lang="en-US" sz="3600" b="1" dirty="0">
              <a:solidFill>
                <a:srgbClr val="A02061"/>
              </a:solidFill>
              <a:latin typeface="Times New Roman" panose="02020603050405020304" pitchFamily="18" charset="0"/>
              <a:cs typeface="Times New Roman" panose="02020603050405020304" pitchFamily="18" charset="0"/>
            </a:endParaRPr>
          </a:p>
        </p:txBody>
      </p:sp>
      <p:sp>
        <p:nvSpPr>
          <p:cNvPr id="14" name="Footer Placeholder 13"/>
          <p:cNvSpPr>
            <a:spLocks noGrp="1"/>
          </p:cNvSpPr>
          <p:nvPr>
            <p:ph type="ftr" sz="quarter" idx="11"/>
          </p:nvPr>
        </p:nvSpPr>
        <p:spPr/>
        <p:txBody>
          <a:bodyPr/>
          <a:lstStyle/>
          <a:p>
            <a:pPr>
              <a:defRPr/>
            </a:pPr>
            <a:r>
              <a:rPr lang="en-IN" dirty="0"/>
              <a:t>Dr HNNCE Jayanagar Bengaluru-56070</a:t>
            </a:r>
          </a:p>
        </p:txBody>
      </p:sp>
      <p:grpSp>
        <p:nvGrpSpPr>
          <p:cNvPr id="3" name="Group 15"/>
          <p:cNvGrpSpPr/>
          <p:nvPr/>
        </p:nvGrpSpPr>
        <p:grpSpPr>
          <a:xfrm>
            <a:off x="379857" y="5719338"/>
            <a:ext cx="951985" cy="847114"/>
            <a:chOff x="313844" y="5489699"/>
            <a:chExt cx="1066895" cy="1078155"/>
          </a:xfrm>
          <a:solidFill>
            <a:schemeClr val="accent2">
              <a:lumMod val="75000"/>
            </a:schemeClr>
          </a:solidFill>
        </p:grpSpPr>
        <p:sp>
          <p:nvSpPr>
            <p:cNvPr id="18" name="Rectangle 17"/>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9" name="Rectangle 18"/>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22" name="Right Triangle 21"/>
          <p:cNvSpPr/>
          <p:nvPr/>
        </p:nvSpPr>
        <p:spPr>
          <a:xfrm rot="5400000">
            <a:off x="384314" y="-384314"/>
            <a:ext cx="1961324" cy="272995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descr="https://drhnnce.org.in/wp-content/uploads/2024/06/HN-NCE-logo-Sanskrit-e1720195930994.png"/>
          <p:cNvPicPr/>
          <p:nvPr/>
        </p:nvPicPr>
        <p:blipFill>
          <a:blip r:embed="rId2" cstate="print"/>
          <a:srcRect/>
          <a:stretch>
            <a:fillRect/>
          </a:stretch>
        </p:blipFill>
        <p:spPr bwMode="auto">
          <a:xfrm>
            <a:off x="0" y="0"/>
            <a:ext cx="1524000" cy="1205948"/>
          </a:xfrm>
          <a:prstGeom prst="rect">
            <a:avLst/>
          </a:prstGeom>
          <a:noFill/>
          <a:ln w="9525">
            <a:noFill/>
            <a:miter lim="800000"/>
            <a:headEnd/>
            <a:tailEnd/>
          </a:ln>
        </p:spPr>
      </p:pic>
      <p:sp>
        <p:nvSpPr>
          <p:cNvPr id="15" name="Right Triangle 14"/>
          <p:cNvSpPr/>
          <p:nvPr/>
        </p:nvSpPr>
        <p:spPr>
          <a:xfrm rot="16200000">
            <a:off x="10863470" y="5529469"/>
            <a:ext cx="1192696" cy="146436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lide Number Placeholder 16"/>
          <p:cNvSpPr>
            <a:spLocks noGrp="1"/>
          </p:cNvSpPr>
          <p:nvPr>
            <p:ph type="sldNum" sz="quarter" idx="12"/>
          </p:nvPr>
        </p:nvSpPr>
        <p:spPr>
          <a:xfrm>
            <a:off x="9276522" y="6303342"/>
            <a:ext cx="2743200" cy="365125"/>
          </a:xfrm>
        </p:spPr>
        <p:txBody>
          <a:bodyPr/>
          <a:lstStyle/>
          <a:p>
            <a:pPr>
              <a:defRPr/>
            </a:pPr>
            <a:fld id="{6F19ED06-7346-4EB5-9FCF-9D0A8A928F23}" type="slidenum">
              <a:rPr lang="en-IN" sz="2400" smtClean="0">
                <a:solidFill>
                  <a:srgbClr val="FF0000"/>
                </a:solidFill>
              </a:rPr>
              <a:pPr>
                <a:defRPr/>
              </a:pPr>
              <a:t>5</a:t>
            </a:fld>
            <a:endParaRPr lang="en-IN" sz="2400" dirty="0">
              <a:solidFill>
                <a:srgbClr val="FF0000"/>
              </a:solidFill>
            </a:endParaRPr>
          </a:p>
        </p:txBody>
      </p:sp>
      <p:sp>
        <p:nvSpPr>
          <p:cNvPr id="7" name="AutoShape 4" descr="What is a tree? – definition, anatomy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7965701-767C-387E-751F-63208055453C}"/>
              </a:ext>
            </a:extLst>
          </p:cNvPr>
          <p:cNvSpPr txBox="1"/>
          <p:nvPr/>
        </p:nvSpPr>
        <p:spPr>
          <a:xfrm>
            <a:off x="811660" y="1313155"/>
            <a:ext cx="4951920" cy="5355312"/>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Swachagraha</a:t>
            </a:r>
            <a:r>
              <a:rPr lang="en-US" dirty="0">
                <a:latin typeface="Times New Roman" panose="02020603050405020304" pitchFamily="18" charset="0"/>
                <a:cs typeface="Times New Roman" panose="02020603050405020304" pitchFamily="18" charset="0"/>
              </a:rPr>
              <a:t> Kalika Kendra is a unique learning center in Bengaluru that promotes through hands-on activities in waste management. It showcases more than twenty models of home and community composting, helping citizens understand how to manage kitchen and garden waste at source and reduce landfill dependency. The center conducts awareness programs, workshops for schools, colleges, and resident welfare associations, making sustainability accessible and engaging. Creative installations made from scrap materials demonstrate recycling and reuse, while the theme-park style setup ensures that learning is interactive and fun. By encouraging households to segregate waste, compost locally, and adopt eco-friendly </a:t>
            </a:r>
            <a:r>
              <a:rPr lang="en-US" dirty="0" err="1">
                <a:latin typeface="Times New Roman" panose="02020603050405020304" pitchFamily="18" charset="0"/>
                <a:cs typeface="Times New Roman" panose="02020603050405020304" pitchFamily="18" charset="0"/>
              </a:rPr>
              <a:t>practices,this</a:t>
            </a:r>
            <a:r>
              <a:rPr lang="en-US" dirty="0">
                <a:latin typeface="Times New Roman" panose="02020603050405020304" pitchFamily="18" charset="0"/>
                <a:cs typeface="Times New Roman" panose="02020603050405020304" pitchFamily="18" charset="0"/>
              </a:rPr>
              <a:t> fosters a culture of responsibility where citizens actively contribute to cleaner neighborhoods and a healthier environment</a:t>
            </a:r>
            <a:r>
              <a:rPr lang="en-US" dirty="0"/>
              <a:t>.</a:t>
            </a:r>
          </a:p>
          <a:p>
            <a:endParaRPr lang="en-US" dirty="0"/>
          </a:p>
        </p:txBody>
      </p:sp>
      <p:pic>
        <p:nvPicPr>
          <p:cNvPr id="8" name="Picture 7">
            <a:extLst>
              <a:ext uri="{FF2B5EF4-FFF2-40B4-BE49-F238E27FC236}">
                <a16:creationId xmlns:a16="http://schemas.microsoft.com/office/drawing/2014/main" id="{379F0B8B-F1DB-606D-0F3F-8F48441C08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9720" y="1205948"/>
            <a:ext cx="5220279" cy="2970281"/>
          </a:xfrm>
          <a:prstGeom prst="rect">
            <a:avLst/>
          </a:prstGeom>
        </p:spPr>
      </p:pic>
      <p:pic>
        <p:nvPicPr>
          <p:cNvPr id="13" name="Picture 12">
            <a:extLst>
              <a:ext uri="{FF2B5EF4-FFF2-40B4-BE49-F238E27FC236}">
                <a16:creationId xmlns:a16="http://schemas.microsoft.com/office/drawing/2014/main" id="{347D6997-FDBF-6B2C-C791-7000A9D795B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09720" y="4322397"/>
            <a:ext cx="5220279" cy="2033953"/>
          </a:xfrm>
          <a:prstGeom prst="rect">
            <a:avLst/>
          </a:prstGeom>
        </p:spPr>
      </p:pic>
    </p:spTree>
    <p:extLst>
      <p:ext uri="{BB962C8B-B14F-4D97-AF65-F5344CB8AC3E}">
        <p14:creationId xmlns:p14="http://schemas.microsoft.com/office/powerpoint/2010/main" val="1737284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a:cxnSpLocks/>
          </p:cNvCxnSpPr>
          <p:nvPr/>
        </p:nvCxnSpPr>
        <p:spPr>
          <a:xfrm flipH="1">
            <a:off x="2677189" y="1043837"/>
            <a:ext cx="7487158" cy="1594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5"/>
          <p:cNvGrpSpPr/>
          <p:nvPr/>
        </p:nvGrpSpPr>
        <p:grpSpPr>
          <a:xfrm rot="10800000">
            <a:off x="10908710" y="173303"/>
            <a:ext cx="951985" cy="847114"/>
            <a:chOff x="313844" y="5489699"/>
            <a:chExt cx="1066895" cy="1078155"/>
          </a:xfrm>
          <a:solidFill>
            <a:schemeClr val="accent2">
              <a:lumMod val="75000"/>
            </a:schemeClr>
          </a:solidFill>
        </p:grpSpPr>
        <p:sp>
          <p:nvSpPr>
            <p:cNvPr id="9" name="Rectangle 8"/>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0" name="Rectangle 9"/>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12" name="TextBox 11"/>
          <p:cNvSpPr txBox="1"/>
          <p:nvPr/>
        </p:nvSpPr>
        <p:spPr>
          <a:xfrm>
            <a:off x="3411080" y="322040"/>
            <a:ext cx="6816502" cy="584775"/>
          </a:xfrm>
          <a:prstGeom prst="rect">
            <a:avLst/>
          </a:prstGeom>
          <a:noFill/>
        </p:spPr>
        <p:txBody>
          <a:bodyPr wrap="square" rtlCol="0">
            <a:spAutoFit/>
          </a:bodyPr>
          <a:lstStyle/>
          <a:p>
            <a:pPr algn="ctr"/>
            <a:r>
              <a:rPr lang="en-US" sz="3200" dirty="0">
                <a:solidFill>
                  <a:srgbClr val="FF0000"/>
                </a:solidFill>
              </a:rPr>
              <a:t>Activity-4 Water conservation</a:t>
            </a:r>
            <a:endParaRPr lang="en-US" sz="3200" b="1" dirty="0">
              <a:solidFill>
                <a:srgbClr val="A02061"/>
              </a:solidFill>
              <a:latin typeface="Times New Roman" panose="02020603050405020304" pitchFamily="18" charset="0"/>
              <a:cs typeface="Times New Roman" panose="02020603050405020304" pitchFamily="18" charset="0"/>
            </a:endParaRPr>
          </a:p>
        </p:txBody>
      </p:sp>
      <p:sp>
        <p:nvSpPr>
          <p:cNvPr id="14" name="Footer Placeholder 13"/>
          <p:cNvSpPr>
            <a:spLocks noGrp="1"/>
          </p:cNvSpPr>
          <p:nvPr>
            <p:ph type="ftr" sz="quarter" idx="11"/>
          </p:nvPr>
        </p:nvSpPr>
        <p:spPr/>
        <p:txBody>
          <a:bodyPr/>
          <a:lstStyle/>
          <a:p>
            <a:pPr>
              <a:defRPr/>
            </a:pPr>
            <a:r>
              <a:rPr lang="en-IN" dirty="0"/>
              <a:t>Dr HNNCE Jayanagar Bengaluru-56070</a:t>
            </a:r>
          </a:p>
        </p:txBody>
      </p:sp>
      <p:grpSp>
        <p:nvGrpSpPr>
          <p:cNvPr id="3" name="Group 15"/>
          <p:cNvGrpSpPr/>
          <p:nvPr/>
        </p:nvGrpSpPr>
        <p:grpSpPr>
          <a:xfrm>
            <a:off x="379857" y="5719338"/>
            <a:ext cx="951985" cy="847114"/>
            <a:chOff x="313844" y="5489699"/>
            <a:chExt cx="1066895" cy="1078155"/>
          </a:xfrm>
          <a:solidFill>
            <a:schemeClr val="accent2">
              <a:lumMod val="75000"/>
            </a:schemeClr>
          </a:solidFill>
        </p:grpSpPr>
        <p:sp>
          <p:nvSpPr>
            <p:cNvPr id="18" name="Rectangle 17"/>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9" name="Rectangle 18"/>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22" name="Right Triangle 21"/>
          <p:cNvSpPr/>
          <p:nvPr/>
        </p:nvSpPr>
        <p:spPr>
          <a:xfrm rot="5400000">
            <a:off x="384314" y="-384314"/>
            <a:ext cx="1961324" cy="272995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descr="https://drhnnce.org.in/wp-content/uploads/2024/06/HN-NCE-logo-Sanskrit-e1720195930994.png"/>
          <p:cNvPicPr/>
          <p:nvPr/>
        </p:nvPicPr>
        <p:blipFill>
          <a:blip r:embed="rId2" cstate="print"/>
          <a:srcRect/>
          <a:stretch>
            <a:fillRect/>
          </a:stretch>
        </p:blipFill>
        <p:spPr bwMode="auto">
          <a:xfrm>
            <a:off x="0" y="0"/>
            <a:ext cx="1524000" cy="1205948"/>
          </a:xfrm>
          <a:prstGeom prst="rect">
            <a:avLst/>
          </a:prstGeom>
          <a:noFill/>
          <a:ln w="9525">
            <a:noFill/>
            <a:miter lim="800000"/>
            <a:headEnd/>
            <a:tailEnd/>
          </a:ln>
        </p:spPr>
      </p:pic>
      <p:sp>
        <p:nvSpPr>
          <p:cNvPr id="15" name="Right Triangle 14"/>
          <p:cNvSpPr/>
          <p:nvPr/>
        </p:nvSpPr>
        <p:spPr>
          <a:xfrm rot="16200000">
            <a:off x="10863470" y="5529469"/>
            <a:ext cx="1192696" cy="146436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lide Number Placeholder 16"/>
          <p:cNvSpPr>
            <a:spLocks noGrp="1"/>
          </p:cNvSpPr>
          <p:nvPr>
            <p:ph type="sldNum" sz="quarter" idx="12"/>
          </p:nvPr>
        </p:nvSpPr>
        <p:spPr>
          <a:xfrm>
            <a:off x="9276522" y="6303342"/>
            <a:ext cx="2743200" cy="365125"/>
          </a:xfrm>
        </p:spPr>
        <p:txBody>
          <a:bodyPr/>
          <a:lstStyle/>
          <a:p>
            <a:pPr>
              <a:defRPr/>
            </a:pPr>
            <a:fld id="{6F19ED06-7346-4EB5-9FCF-9D0A8A928F23}" type="slidenum">
              <a:rPr lang="en-IN" sz="2400" smtClean="0">
                <a:solidFill>
                  <a:srgbClr val="FF0000"/>
                </a:solidFill>
              </a:rPr>
              <a:pPr>
                <a:defRPr/>
              </a:pPr>
              <a:t>6</a:t>
            </a:fld>
            <a:endParaRPr lang="en-IN" sz="2400" dirty="0">
              <a:solidFill>
                <a:srgbClr val="FF0000"/>
              </a:solidFill>
            </a:endParaRPr>
          </a:p>
        </p:txBody>
      </p:sp>
      <p:sp>
        <p:nvSpPr>
          <p:cNvPr id="4" name="TextBox 3"/>
          <p:cNvSpPr txBox="1"/>
          <p:nvPr/>
        </p:nvSpPr>
        <p:spPr>
          <a:xfrm>
            <a:off x="672357" y="1350411"/>
            <a:ext cx="5026382" cy="553997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During our Water conservation we walk into the world of engineering marvels, we paused to honor the legacy of </a:t>
            </a:r>
            <a:r>
              <a:rPr lang="en-US" sz="1600" b="1" dirty="0">
                <a:latin typeface="Times New Roman" panose="02020603050405020304" pitchFamily="18" charset="0"/>
                <a:cs typeface="Times New Roman" panose="02020603050405020304" pitchFamily="18" charset="0"/>
              </a:rPr>
              <a:t>Sir M. Visvesvaraya</a:t>
            </a:r>
            <a:r>
              <a:rPr lang="en-US" sz="1600" dirty="0">
                <a:latin typeface="Times New Roman" panose="02020603050405020304" pitchFamily="18" charset="0"/>
                <a:cs typeface="Times New Roman" panose="02020603050405020304" pitchFamily="18" charset="0"/>
              </a:rPr>
              <a:t>, whose vision for water conservation transformed the way communities in India managed their resources. Known as the “Father of Modern Engineering,” his foresight in harnessing and preserving water continues to resonate across generations.</a:t>
            </a:r>
          </a:p>
          <a:p>
            <a:r>
              <a:rPr lang="en-US" sz="1600" dirty="0">
                <a:latin typeface="Times New Roman" panose="02020603050405020304" pitchFamily="18" charset="0"/>
                <a:cs typeface="Times New Roman" panose="02020603050405020304" pitchFamily="18" charset="0"/>
              </a:rPr>
              <a:t>I experienced the unique blend of </a:t>
            </a:r>
            <a:r>
              <a:rPr lang="en-US" sz="1600" b="1" dirty="0">
                <a:latin typeface="Times New Roman" panose="02020603050405020304" pitchFamily="18" charset="0"/>
                <a:cs typeface="Times New Roman" panose="02020603050405020304" pitchFamily="18" charset="0"/>
              </a:rPr>
              <a:t>science and sustainability</a:t>
            </a:r>
            <a:r>
              <a:rPr lang="en-US" sz="1600" dirty="0">
                <a:latin typeface="Times New Roman" panose="02020603050405020304" pitchFamily="18" charset="0"/>
                <a:cs typeface="Times New Roman" panose="02020603050405020304" pitchFamily="18" charset="0"/>
              </a:rPr>
              <a:t> in his approach — for Visvesvaraya, water was not just a resource but a lifeline for development. His pioneering ideas in building reservoirs, check dams, and irrigation systems created a culture of conservation, ensuring that every drop of rain was valued.</a:t>
            </a:r>
          </a:p>
          <a:p>
            <a:r>
              <a:rPr lang="en-US" sz="1600" dirty="0">
                <a:latin typeface="Times New Roman" panose="02020603050405020304" pitchFamily="18" charset="0"/>
                <a:cs typeface="Times New Roman" panose="02020603050405020304" pitchFamily="18" charset="0"/>
              </a:rPr>
              <a:t>Despite rapid urbanization, Visvesvaraya’s principles continue to guide Bengaluru and beyond, preserving the balance between growth and nature. His legacy in water conservation is not just technical brilliance but a </a:t>
            </a:r>
            <a:r>
              <a:rPr lang="en-US" sz="1600" b="1" dirty="0">
                <a:latin typeface="Times New Roman" panose="02020603050405020304" pitchFamily="18" charset="0"/>
                <a:cs typeface="Times New Roman" panose="02020603050405020304" pitchFamily="18" charset="0"/>
              </a:rPr>
              <a:t>living testimony to India’s traditions of foresight, resilience, and collective well-being</a:t>
            </a:r>
            <a:r>
              <a:rPr lang="en-US" sz="1600" dirty="0">
                <a:latin typeface="Times New Roman" panose="02020603050405020304" pitchFamily="18" charset="0"/>
                <a:cs typeface="Times New Roman" panose="02020603050405020304" pitchFamily="18" charset="0"/>
              </a:rPr>
              <a:t>.</a:t>
            </a:r>
          </a:p>
          <a:p>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endParaRPr lang="en-US" dirty="0"/>
          </a:p>
        </p:txBody>
      </p:sp>
      <p:sp>
        <p:nvSpPr>
          <p:cNvPr id="7" name="AutoShape 4" descr="What is a tree? – definition, anatomy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441092FF-2528-3177-9CDA-74556A57A6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8739" y="1406482"/>
            <a:ext cx="5507325" cy="4312855"/>
          </a:xfrm>
          <a:prstGeom prst="rect">
            <a:avLst/>
          </a:prstGeom>
        </p:spPr>
      </p:pic>
    </p:spTree>
    <p:extLst>
      <p:ext uri="{BB962C8B-B14F-4D97-AF65-F5344CB8AC3E}">
        <p14:creationId xmlns:p14="http://schemas.microsoft.com/office/powerpoint/2010/main" val="2245807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a:cxnSpLocks/>
          </p:cNvCxnSpPr>
          <p:nvPr/>
        </p:nvCxnSpPr>
        <p:spPr>
          <a:xfrm flipH="1">
            <a:off x="2677189" y="1043837"/>
            <a:ext cx="7487158" cy="1594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5"/>
          <p:cNvGrpSpPr/>
          <p:nvPr/>
        </p:nvGrpSpPr>
        <p:grpSpPr>
          <a:xfrm rot="10800000">
            <a:off x="10908710" y="173303"/>
            <a:ext cx="951985" cy="847114"/>
            <a:chOff x="313844" y="5489699"/>
            <a:chExt cx="1066895" cy="1078155"/>
          </a:xfrm>
          <a:solidFill>
            <a:schemeClr val="accent2">
              <a:lumMod val="75000"/>
            </a:schemeClr>
          </a:solidFill>
        </p:grpSpPr>
        <p:sp>
          <p:nvSpPr>
            <p:cNvPr id="9" name="Rectangle 8"/>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0" name="Rectangle 9"/>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12" name="TextBox 11"/>
          <p:cNvSpPr txBox="1"/>
          <p:nvPr/>
        </p:nvSpPr>
        <p:spPr>
          <a:xfrm>
            <a:off x="4267199" y="191263"/>
            <a:ext cx="5185893" cy="584775"/>
          </a:xfrm>
          <a:prstGeom prst="rect">
            <a:avLst/>
          </a:prstGeom>
          <a:noFill/>
        </p:spPr>
        <p:txBody>
          <a:bodyPr wrap="square" rtlCol="0">
            <a:spAutoFit/>
          </a:bodyPr>
          <a:lstStyle/>
          <a:p>
            <a:pPr algn="ctr"/>
            <a:r>
              <a:rPr lang="en-US" sz="3200" dirty="0">
                <a:solidFill>
                  <a:srgbClr val="FF0000"/>
                </a:solidFill>
              </a:rPr>
              <a:t>Activity-5 Food walk</a:t>
            </a:r>
            <a:endParaRPr lang="en-US" sz="3200" b="1" dirty="0">
              <a:solidFill>
                <a:srgbClr val="A02061"/>
              </a:solidFill>
              <a:latin typeface="Times New Roman" panose="02020603050405020304" pitchFamily="18" charset="0"/>
              <a:cs typeface="Times New Roman" panose="02020603050405020304" pitchFamily="18" charset="0"/>
            </a:endParaRPr>
          </a:p>
        </p:txBody>
      </p:sp>
      <p:sp>
        <p:nvSpPr>
          <p:cNvPr id="14" name="Footer Placeholder 13"/>
          <p:cNvSpPr>
            <a:spLocks noGrp="1"/>
          </p:cNvSpPr>
          <p:nvPr>
            <p:ph type="ftr" sz="quarter" idx="11"/>
          </p:nvPr>
        </p:nvSpPr>
        <p:spPr/>
        <p:txBody>
          <a:bodyPr/>
          <a:lstStyle/>
          <a:p>
            <a:pPr>
              <a:defRPr/>
            </a:pPr>
            <a:r>
              <a:rPr lang="en-IN" dirty="0"/>
              <a:t>Dr HNNCE Jayanagar Bengaluru-56070</a:t>
            </a:r>
          </a:p>
        </p:txBody>
      </p:sp>
      <p:grpSp>
        <p:nvGrpSpPr>
          <p:cNvPr id="3" name="Group 15"/>
          <p:cNvGrpSpPr/>
          <p:nvPr/>
        </p:nvGrpSpPr>
        <p:grpSpPr>
          <a:xfrm>
            <a:off x="379857" y="5719338"/>
            <a:ext cx="951985" cy="847114"/>
            <a:chOff x="313844" y="5489699"/>
            <a:chExt cx="1066895" cy="1078155"/>
          </a:xfrm>
          <a:solidFill>
            <a:schemeClr val="accent2">
              <a:lumMod val="75000"/>
            </a:schemeClr>
          </a:solidFill>
        </p:grpSpPr>
        <p:sp>
          <p:nvSpPr>
            <p:cNvPr id="18" name="Rectangle 17"/>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9" name="Rectangle 18"/>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22" name="Right Triangle 21"/>
          <p:cNvSpPr/>
          <p:nvPr/>
        </p:nvSpPr>
        <p:spPr>
          <a:xfrm rot="5400000">
            <a:off x="384314" y="-384314"/>
            <a:ext cx="1961324" cy="272995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descr="https://drhnnce.org.in/wp-content/uploads/2024/06/HN-NCE-logo-Sanskrit-e1720195930994.png"/>
          <p:cNvPicPr/>
          <p:nvPr/>
        </p:nvPicPr>
        <p:blipFill>
          <a:blip r:embed="rId2" cstate="print"/>
          <a:srcRect/>
          <a:stretch>
            <a:fillRect/>
          </a:stretch>
        </p:blipFill>
        <p:spPr bwMode="auto">
          <a:xfrm>
            <a:off x="0" y="0"/>
            <a:ext cx="1524000" cy="1205948"/>
          </a:xfrm>
          <a:prstGeom prst="rect">
            <a:avLst/>
          </a:prstGeom>
          <a:noFill/>
          <a:ln w="9525">
            <a:noFill/>
            <a:miter lim="800000"/>
            <a:headEnd/>
            <a:tailEnd/>
          </a:ln>
        </p:spPr>
      </p:pic>
      <p:sp>
        <p:nvSpPr>
          <p:cNvPr id="15" name="Right Triangle 14"/>
          <p:cNvSpPr/>
          <p:nvPr/>
        </p:nvSpPr>
        <p:spPr>
          <a:xfrm rot="16200000">
            <a:off x="10863470" y="5529469"/>
            <a:ext cx="1192696" cy="146436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lide Number Placeholder 16"/>
          <p:cNvSpPr>
            <a:spLocks noGrp="1"/>
          </p:cNvSpPr>
          <p:nvPr>
            <p:ph type="sldNum" sz="quarter" idx="12"/>
          </p:nvPr>
        </p:nvSpPr>
        <p:spPr>
          <a:xfrm>
            <a:off x="9276522" y="6303342"/>
            <a:ext cx="2743200" cy="365125"/>
          </a:xfrm>
        </p:spPr>
        <p:txBody>
          <a:bodyPr/>
          <a:lstStyle/>
          <a:p>
            <a:pPr>
              <a:defRPr/>
            </a:pPr>
            <a:fld id="{6F19ED06-7346-4EB5-9FCF-9D0A8A928F23}" type="slidenum">
              <a:rPr lang="en-IN" sz="2400" smtClean="0">
                <a:solidFill>
                  <a:srgbClr val="FF0000"/>
                </a:solidFill>
              </a:rPr>
              <a:pPr>
                <a:defRPr/>
              </a:pPr>
              <a:t>7</a:t>
            </a:fld>
            <a:endParaRPr lang="en-IN" sz="2400" dirty="0">
              <a:solidFill>
                <a:srgbClr val="FF0000"/>
              </a:solidFill>
            </a:endParaRPr>
          </a:p>
        </p:txBody>
      </p:sp>
      <p:sp>
        <p:nvSpPr>
          <p:cNvPr id="7" name="AutoShape 4" descr="What is a tree? – definition, anatomy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A80AF6C0-81B6-0FA2-BE38-8D290B54DE83}"/>
              </a:ext>
            </a:extLst>
          </p:cNvPr>
          <p:cNvSpPr txBox="1"/>
          <p:nvPr/>
        </p:nvSpPr>
        <p:spPr>
          <a:xfrm>
            <a:off x="621163" y="1437076"/>
            <a:ext cx="6102220" cy="4524315"/>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During our food walk, we visited </a:t>
            </a:r>
            <a:r>
              <a:rPr lang="en-US" b="1" dirty="0" err="1">
                <a:latin typeface="Times New Roman" panose="02020603050405020304" pitchFamily="18" charset="0"/>
                <a:cs typeface="Times New Roman" panose="02020603050405020304" pitchFamily="18" charset="0"/>
              </a:rPr>
              <a:t>Swagath</a:t>
            </a:r>
            <a:r>
              <a:rPr lang="en-US" b="1" dirty="0">
                <a:latin typeface="Times New Roman" panose="02020603050405020304" pitchFamily="18" charset="0"/>
                <a:cs typeface="Times New Roman" panose="02020603050405020304" pitchFamily="18" charset="0"/>
              </a:rPr>
              <a:t> Hotel</a:t>
            </a:r>
            <a:r>
              <a:rPr lang="en-US" dirty="0">
                <a:latin typeface="Times New Roman" panose="02020603050405020304" pitchFamily="18" charset="0"/>
                <a:cs typeface="Times New Roman" panose="02020603050405020304" pitchFamily="18" charset="0"/>
              </a:rPr>
              <a:t> near </a:t>
            </a:r>
            <a:r>
              <a:rPr lang="en-US" dirty="0" err="1">
                <a:latin typeface="Times New Roman" panose="02020603050405020304" pitchFamily="18" charset="0"/>
                <a:cs typeface="Times New Roman" panose="02020603050405020304" pitchFamily="18" charset="0"/>
              </a:rPr>
              <a:t>Yediyur</a:t>
            </a:r>
            <a:r>
              <a:rPr lang="en-US" dirty="0">
                <a:latin typeface="Times New Roman" panose="02020603050405020304" pitchFamily="18" charset="0"/>
                <a:cs typeface="Times New Roman" panose="02020603050405020304" pitchFamily="18" charset="0"/>
              </a:rPr>
              <a:t> in Jayanagar, a cozy old-style eatery that has been serving locals for many years. Known for its simple South Indian meals, this place has become a favorite breakfast stop for people in the area. I tried their famous onion dosa along with a cup of strong filter coffee — honestly, the perfect combo! The dosa was crispy on the outside and soft inside, made from rice and lentil batter topped with caramelized onions. It’s not just delicious but also healthy, packed with carbohydrates for energy, protein for strength, and fiber that aids digestion. The traditional filter coffee was rich and aromatic, helping refresh us after a long walk. The warm hospitality and nostalgic vibe made it feel like a true taste of old Bengaluru. </a:t>
            </a:r>
            <a:r>
              <a:rPr lang="en-US" dirty="0" err="1">
                <a:latin typeface="Times New Roman" panose="02020603050405020304" pitchFamily="18" charset="0"/>
                <a:cs typeface="Times New Roman" panose="02020603050405020304" pitchFamily="18" charset="0"/>
              </a:rPr>
              <a:t>Swagath</a:t>
            </a:r>
            <a:r>
              <a:rPr lang="en-US" dirty="0">
                <a:latin typeface="Times New Roman" panose="02020603050405020304" pitchFamily="18" charset="0"/>
                <a:cs typeface="Times New Roman" panose="02020603050405020304" pitchFamily="18" charset="0"/>
              </a:rPr>
              <a:t> Hotel was started in the early 1980s as a small family-run tiffin center and has slowly grown into one of Jayanagar’s most loved local landmarks, still maintaining its old charm and authentic flavors.</a:t>
            </a:r>
          </a:p>
        </p:txBody>
      </p:sp>
      <p:pic>
        <p:nvPicPr>
          <p:cNvPr id="5" name="Picture 4">
            <a:extLst>
              <a:ext uri="{FF2B5EF4-FFF2-40B4-BE49-F238E27FC236}">
                <a16:creationId xmlns:a16="http://schemas.microsoft.com/office/drawing/2014/main" id="{6A72590F-96E8-DAF0-2E89-63C769AA0C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23383" y="1530546"/>
            <a:ext cx="5187170" cy="3890377"/>
          </a:xfrm>
          <a:prstGeom prst="rect">
            <a:avLst/>
          </a:prstGeom>
        </p:spPr>
      </p:pic>
    </p:spTree>
    <p:extLst>
      <p:ext uri="{BB962C8B-B14F-4D97-AF65-F5344CB8AC3E}">
        <p14:creationId xmlns:p14="http://schemas.microsoft.com/office/powerpoint/2010/main" val="1976702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
          <p:cNvGrpSpPr/>
          <p:nvPr/>
        </p:nvGrpSpPr>
        <p:grpSpPr>
          <a:xfrm rot="10800000">
            <a:off x="10908710" y="173303"/>
            <a:ext cx="951985" cy="847114"/>
            <a:chOff x="313844" y="5489699"/>
            <a:chExt cx="1066895" cy="1078155"/>
          </a:xfrm>
          <a:solidFill>
            <a:schemeClr val="accent2">
              <a:lumMod val="75000"/>
            </a:schemeClr>
          </a:solidFill>
        </p:grpSpPr>
        <p:sp>
          <p:nvSpPr>
            <p:cNvPr id="9" name="Rectangle 8"/>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0" name="Rectangle 9"/>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14" name="Footer Placeholder 13"/>
          <p:cNvSpPr>
            <a:spLocks noGrp="1"/>
          </p:cNvSpPr>
          <p:nvPr>
            <p:ph type="ftr" sz="quarter" idx="11"/>
          </p:nvPr>
        </p:nvSpPr>
        <p:spPr/>
        <p:txBody>
          <a:bodyPr/>
          <a:lstStyle/>
          <a:p>
            <a:pPr>
              <a:defRPr/>
            </a:pPr>
            <a:r>
              <a:rPr lang="en-IN" dirty="0"/>
              <a:t>Dr HNNCE Jayanagar Bengaluru-56070</a:t>
            </a:r>
          </a:p>
        </p:txBody>
      </p:sp>
      <p:grpSp>
        <p:nvGrpSpPr>
          <p:cNvPr id="3" name="Group 15"/>
          <p:cNvGrpSpPr/>
          <p:nvPr/>
        </p:nvGrpSpPr>
        <p:grpSpPr>
          <a:xfrm>
            <a:off x="379857" y="5719338"/>
            <a:ext cx="951985" cy="847114"/>
            <a:chOff x="313844" y="5489699"/>
            <a:chExt cx="1066895" cy="1078155"/>
          </a:xfrm>
          <a:solidFill>
            <a:schemeClr val="accent2">
              <a:lumMod val="75000"/>
            </a:schemeClr>
          </a:solidFill>
        </p:grpSpPr>
        <p:sp>
          <p:nvSpPr>
            <p:cNvPr id="18" name="Rectangle 17"/>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9" name="Rectangle 18"/>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grpSp>
      <p:sp>
        <p:nvSpPr>
          <p:cNvPr id="22" name="Right Triangle 21"/>
          <p:cNvSpPr/>
          <p:nvPr/>
        </p:nvSpPr>
        <p:spPr>
          <a:xfrm rot="5400000">
            <a:off x="384314" y="-384314"/>
            <a:ext cx="1961324" cy="272995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descr="https://drhnnce.org.in/wp-content/uploads/2024/06/HN-NCE-logo-Sanskrit-e1720195930994.png"/>
          <p:cNvPicPr/>
          <p:nvPr/>
        </p:nvPicPr>
        <p:blipFill>
          <a:blip r:embed="rId2" cstate="print"/>
          <a:srcRect/>
          <a:stretch>
            <a:fillRect/>
          </a:stretch>
        </p:blipFill>
        <p:spPr bwMode="auto">
          <a:xfrm>
            <a:off x="0" y="0"/>
            <a:ext cx="1524000" cy="1205948"/>
          </a:xfrm>
          <a:prstGeom prst="rect">
            <a:avLst/>
          </a:prstGeom>
          <a:noFill/>
          <a:ln w="9525">
            <a:noFill/>
            <a:miter lim="800000"/>
            <a:headEnd/>
            <a:tailEnd/>
          </a:ln>
        </p:spPr>
      </p:pic>
      <p:sp>
        <p:nvSpPr>
          <p:cNvPr id="26" name="Right Triangle 25"/>
          <p:cNvSpPr/>
          <p:nvPr/>
        </p:nvSpPr>
        <p:spPr>
          <a:xfrm rot="16200000">
            <a:off x="10863470" y="5529469"/>
            <a:ext cx="1192696" cy="146436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Slide Number Placeholder 26"/>
          <p:cNvSpPr>
            <a:spLocks noGrp="1"/>
          </p:cNvSpPr>
          <p:nvPr>
            <p:ph type="sldNum" sz="quarter" idx="12"/>
          </p:nvPr>
        </p:nvSpPr>
        <p:spPr>
          <a:xfrm>
            <a:off x="9193695" y="6329846"/>
            <a:ext cx="2743200" cy="365125"/>
          </a:xfrm>
        </p:spPr>
        <p:txBody>
          <a:bodyPr/>
          <a:lstStyle/>
          <a:p>
            <a:pPr>
              <a:defRPr/>
            </a:pPr>
            <a:fld id="{6F19ED06-7346-4EB5-9FCF-9D0A8A928F23}" type="slidenum">
              <a:rPr lang="en-IN" sz="2400" smtClean="0">
                <a:solidFill>
                  <a:srgbClr val="FF0000"/>
                </a:solidFill>
              </a:rPr>
              <a:pPr>
                <a:defRPr/>
              </a:pPr>
              <a:t>8</a:t>
            </a:fld>
            <a:endParaRPr lang="en-IN" sz="2400" dirty="0">
              <a:solidFill>
                <a:srgbClr val="FF0000"/>
              </a:solidFill>
            </a:endParaRPr>
          </a:p>
        </p:txBody>
      </p:sp>
      <p:sp>
        <p:nvSpPr>
          <p:cNvPr id="4" name="TextBox 3"/>
          <p:cNvSpPr txBox="1"/>
          <p:nvPr/>
        </p:nvSpPr>
        <p:spPr>
          <a:xfrm>
            <a:off x="3361386" y="2292439"/>
            <a:ext cx="4673523" cy="1107996"/>
          </a:xfrm>
          <a:prstGeom prst="rect">
            <a:avLst/>
          </a:prstGeom>
          <a:noFill/>
        </p:spPr>
        <p:txBody>
          <a:bodyPr wrap="none" rtlCol="0">
            <a:spAutoFit/>
          </a:bodyPr>
          <a:lstStyle/>
          <a:p>
            <a:r>
              <a:rPr lang="en-US" sz="6600" b="1" dirty="0"/>
              <a:t>Thank You </a:t>
            </a:r>
          </a:p>
        </p:txBody>
      </p:sp>
    </p:spTree>
    <p:extLst>
      <p:ext uri="{BB962C8B-B14F-4D97-AF65-F5344CB8AC3E}">
        <p14:creationId xmlns:p14="http://schemas.microsoft.com/office/powerpoint/2010/main" val="1357923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2433</TotalTime>
  <Words>963</Words>
  <Application>Microsoft Office PowerPoint</Application>
  <PresentationFormat>Widescreen</PresentationFormat>
  <Paragraphs>45</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Venkataram</dc:creator>
  <cp:lastModifiedBy>918970575134</cp:lastModifiedBy>
  <cp:revision>138</cp:revision>
  <dcterms:created xsi:type="dcterms:W3CDTF">2020-06-03T14:19:11Z</dcterms:created>
  <dcterms:modified xsi:type="dcterms:W3CDTF">2026-01-09T08:31:51Z</dcterms:modified>
</cp:coreProperties>
</file>